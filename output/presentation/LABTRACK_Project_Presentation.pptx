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8512315e8bc4222" /><Relationship Type="http://schemas.openxmlformats.org/officeDocument/2006/relationships/extended-properties" Target="/docProps/app.xml" Id="R5498c6d65d344adc" /><Relationship Type="http://schemas.openxmlformats.org/officeDocument/2006/relationships/officeDocument" Target="/ppt/presentation.xml" Id="R4c3563f34b6045fc" /></Relationships>
</file>

<file path=ppt/presentation.xml><?xml version="1.0" encoding="utf-8"?>
<p:presentation xmlns:p="http://schemas.openxmlformats.org/presentationml/2006/main">
  <p:sldMasterIdLst>
    <p:sldMasterId xmlns:r="http://schemas.openxmlformats.org/officeDocument/2006/relationships" id="2147483648" r:id="R159e05f8d8d44c8b"/>
  </p:sldMasterIdLst>
  <p:notesMasterIdLst>
    <p:notesMasterId xmlns:r="http://schemas.openxmlformats.org/officeDocument/2006/relationships" r:id="R3756a9d75fd649f7"/>
  </p:notesMasterIdLst>
  <p:sldIdLst>
    <p:sldId xmlns:r="http://schemas.openxmlformats.org/officeDocument/2006/relationships" id="256" r:id="R69dbd23e6b8c48a3"/>
    <p:sldId xmlns:r="http://schemas.openxmlformats.org/officeDocument/2006/relationships" id="257" r:id="R100e82ba183448bd"/>
    <p:sldId xmlns:r="http://schemas.openxmlformats.org/officeDocument/2006/relationships" id="258" r:id="R6e7987e006b2460b"/>
    <p:sldId xmlns:r="http://schemas.openxmlformats.org/officeDocument/2006/relationships" id="259" r:id="Ra5e9e5c470af4a78"/>
    <p:sldId xmlns:r="http://schemas.openxmlformats.org/officeDocument/2006/relationships" id="260" r:id="R6a5667420c104957"/>
    <p:sldId xmlns:r="http://schemas.openxmlformats.org/officeDocument/2006/relationships" id="261" r:id="R57c8845eb5a846e1"/>
    <p:sldId xmlns:r="http://schemas.openxmlformats.org/officeDocument/2006/relationships" id="262" r:id="R643ef12d149046fe"/>
    <p:sldId xmlns:r="http://schemas.openxmlformats.org/officeDocument/2006/relationships" id="263" r:id="R107cdbdad36a4568"/>
    <p:sldId xmlns:r="http://schemas.openxmlformats.org/officeDocument/2006/relationships" id="264" r:id="Ra94900f9febb4155"/>
    <p:sldId xmlns:r="http://schemas.openxmlformats.org/officeDocument/2006/relationships" id="265" r:id="Ra2ab6d6fe23d4fcf"/>
    <p:sldId xmlns:r="http://schemas.openxmlformats.org/officeDocument/2006/relationships" id="266" r:id="R7201b78282344e2b"/>
    <p:sldId xmlns:r="http://schemas.openxmlformats.org/officeDocument/2006/relationships" id="267" r:id="Rbcd8cf57fff0467b"/>
    <p:sldId xmlns:r="http://schemas.openxmlformats.org/officeDocument/2006/relationships" id="268" r:id="Rd0958830b98d484c"/>
    <p:sldId xmlns:r="http://schemas.openxmlformats.org/officeDocument/2006/relationships" id="269" r:id="R9566cb72e962461d"/>
    <p:sldId xmlns:r="http://schemas.openxmlformats.org/officeDocument/2006/relationships" id="270" r:id="R0376067fe01448ff"/>
    <p:sldId xmlns:r="http://schemas.openxmlformats.org/officeDocument/2006/relationships" id="271" r:id="R6f3416506b4e41cc"/>
    <p:sldId xmlns:r="http://schemas.openxmlformats.org/officeDocument/2006/relationships" id="272" r:id="R03c99194511a438b"/>
    <p:sldId xmlns:r="http://schemas.openxmlformats.org/officeDocument/2006/relationships" id="273" r:id="Rf2fcff596ab646f3"/>
    <p:sldId xmlns:r="http://schemas.openxmlformats.org/officeDocument/2006/relationships" id="274" r:id="Rf2371948fea747c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815d075133e4a54" /><Relationship Type="http://schemas.openxmlformats.org/officeDocument/2006/relationships/slideMaster" Target="/ppt/slideMasters/slideMaster1.xml" Id="R159e05f8d8d44c8b" /><Relationship Type="http://schemas.openxmlformats.org/officeDocument/2006/relationships/notesMaster" Target="/ppt/notesMasters/notesMaster1.xml" Id="R3756a9d75fd649f7" /><Relationship Type="http://schemas.openxmlformats.org/officeDocument/2006/relationships/presProps" Target="/ppt/presProps.xml" Id="R72ce73056ef74691" /><Relationship Type="http://schemas.openxmlformats.org/officeDocument/2006/relationships/tableStyles" Target="/ppt/tableStyles.xml" Id="Rba712a68fd864ee3" /><Relationship Type="http://schemas.openxmlformats.org/officeDocument/2006/relationships/slide" Target="/ppt/slides/slide1.xml" Id="R69dbd23e6b8c48a3" /><Relationship Type="http://schemas.openxmlformats.org/officeDocument/2006/relationships/slide" Target="/ppt/slides/slide2.xml" Id="R100e82ba183448bd" /><Relationship Type="http://schemas.openxmlformats.org/officeDocument/2006/relationships/slide" Target="/ppt/slides/slide3.xml" Id="R6e7987e006b2460b" /><Relationship Type="http://schemas.openxmlformats.org/officeDocument/2006/relationships/slide" Target="/ppt/slides/slide4.xml" Id="Ra5e9e5c470af4a78" /><Relationship Type="http://schemas.openxmlformats.org/officeDocument/2006/relationships/slide" Target="/ppt/slides/slide5.xml" Id="R6a5667420c104957" /><Relationship Type="http://schemas.openxmlformats.org/officeDocument/2006/relationships/slide" Target="/ppt/slides/slide6.xml" Id="R57c8845eb5a846e1" /><Relationship Type="http://schemas.openxmlformats.org/officeDocument/2006/relationships/slide" Target="/ppt/slides/slide7.xml" Id="R643ef12d149046fe" /><Relationship Type="http://schemas.openxmlformats.org/officeDocument/2006/relationships/slide" Target="/ppt/slides/slide8.xml" Id="R107cdbdad36a4568" /><Relationship Type="http://schemas.openxmlformats.org/officeDocument/2006/relationships/slide" Target="/ppt/slides/slide9.xml" Id="Ra94900f9febb4155" /><Relationship Type="http://schemas.openxmlformats.org/officeDocument/2006/relationships/slide" Target="/ppt/slides/slide10.xml" Id="Ra2ab6d6fe23d4fcf" /><Relationship Type="http://schemas.openxmlformats.org/officeDocument/2006/relationships/slide" Target="/ppt/slides/slide11.xml" Id="R7201b78282344e2b" /><Relationship Type="http://schemas.openxmlformats.org/officeDocument/2006/relationships/slide" Target="/ppt/slides/slide12.xml" Id="Rbcd8cf57fff0467b" /><Relationship Type="http://schemas.openxmlformats.org/officeDocument/2006/relationships/slide" Target="/ppt/slides/slide13.xml" Id="Rd0958830b98d484c" /><Relationship Type="http://schemas.openxmlformats.org/officeDocument/2006/relationships/slide" Target="/ppt/slides/slide14.xml" Id="R9566cb72e962461d" /><Relationship Type="http://schemas.openxmlformats.org/officeDocument/2006/relationships/slide" Target="/ppt/slides/slide15.xml" Id="R0376067fe01448ff" /><Relationship Type="http://schemas.openxmlformats.org/officeDocument/2006/relationships/slide" Target="/ppt/slides/slide16.xml" Id="R6f3416506b4e41cc" /><Relationship Type="http://schemas.openxmlformats.org/officeDocument/2006/relationships/slide" Target="/ppt/slides/slide17.xml" Id="R03c99194511a438b" /><Relationship Type="http://schemas.openxmlformats.org/officeDocument/2006/relationships/slide" Target="/ppt/slides/slide18.xml" Id="Rf2fcff596ab646f3" /><Relationship Type="http://schemas.openxmlformats.org/officeDocument/2006/relationships/slide" Target="/ppt/slides/slide19.xml" Id="Rf2371948fea747c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d0bb9bcc92a4f4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a5e59092b1a45bc" /><Relationship Type="http://schemas.openxmlformats.org/officeDocument/2006/relationships/notesMaster" Target="/ppt/notesMasters/notesMaster1.xml" Id="R2047e5fceb404804" /></Relationships>
</file>

<file path=ppt/notesSlides/_rels/notesSlide2.xml.rels>&#65279;<?xml version="1.0" encoding="utf-8"?><Relationships xmlns="http://schemas.openxmlformats.org/package/2006/relationships"><Relationship Type="http://schemas.openxmlformats.org/officeDocument/2006/relationships/slide" Target="/ppt/slides/slide2.xml" Id="Re99746950f1a4f02" /><Relationship Type="http://schemas.openxmlformats.org/officeDocument/2006/relationships/notesMaster" Target="/ppt/notesMasters/notesMaster1.xml" Id="Rff2b97cb61d241d0" /></Relationships>
</file>

<file path=ppt/notesSlides/_rels/notesSlide3.xml.rels>&#65279;<?xml version="1.0" encoding="utf-8"?><Relationships xmlns="http://schemas.openxmlformats.org/package/2006/relationships"><Relationship Type="http://schemas.openxmlformats.org/officeDocument/2006/relationships/slide" Target="/ppt/slides/slide3.xml" Id="Raa80c3f90dd143a6" /><Relationship Type="http://schemas.openxmlformats.org/officeDocument/2006/relationships/notesMaster" Target="/ppt/notesMasters/notesMaster1.xml" Id="R05ae3b908ebd45ff" /></Relationships>
</file>

<file path=ppt/notesSlides/_rels/notesSlide4.xml.rels>&#65279;<?xml version="1.0" encoding="utf-8"?><Relationships xmlns="http://schemas.openxmlformats.org/package/2006/relationships"><Relationship Type="http://schemas.openxmlformats.org/officeDocument/2006/relationships/slide" Target="/ppt/slides/slide4.xml" Id="R4dc7d952f4874461" /><Relationship Type="http://schemas.openxmlformats.org/officeDocument/2006/relationships/notesMaster" Target="/ppt/notesMasters/notesMaster1.xml" Id="R4101e6b25cd34c02" /></Relationships>
</file>

<file path=ppt/notesSlides/_rels/notesSlide5.xml.rels>&#65279;<?xml version="1.0" encoding="utf-8"?><Relationships xmlns="http://schemas.openxmlformats.org/package/2006/relationships"><Relationship Type="http://schemas.openxmlformats.org/officeDocument/2006/relationships/slide" Target="/ppt/slides/slide5.xml" Id="R765243c3f4c14883" /><Relationship Type="http://schemas.openxmlformats.org/officeDocument/2006/relationships/notesMaster" Target="/ppt/notesMasters/notesMaster1.xml" Id="R8530d3eadb984e03" /></Relationships>
</file>

<file path=ppt/notesSlides/_rels/notesSlide6.xml.rels>&#65279;<?xml version="1.0" encoding="utf-8"?><Relationships xmlns="http://schemas.openxmlformats.org/package/2006/relationships"><Relationship Type="http://schemas.openxmlformats.org/officeDocument/2006/relationships/slide" Target="/ppt/slides/slide6.xml" Id="R302da1c1c39041df" /><Relationship Type="http://schemas.openxmlformats.org/officeDocument/2006/relationships/notesMaster" Target="/ppt/notesMasters/notesMaster1.xml" Id="Rc28a346c7c1f404c" /></Relationships>
</file>

<file path=ppt/notesSlides/_rels/notesSlide7.xml.rels>&#65279;<?xml version="1.0" encoding="utf-8"?><Relationships xmlns="http://schemas.openxmlformats.org/package/2006/relationships"><Relationship Type="http://schemas.openxmlformats.org/officeDocument/2006/relationships/slide" Target="/ppt/slides/slide7.xml" Id="Rff3aee86c0aa44c0" /><Relationship Type="http://schemas.openxmlformats.org/officeDocument/2006/relationships/notesMaster" Target="/ppt/notesMasters/notesMaster1.xml" Id="R51896b29241246c3" /></Relationships>
</file>

<file path=ppt/notesSlides/_rels/notesSlide8.xml.rels>&#65279;<?xml version="1.0" encoding="utf-8"?><Relationships xmlns="http://schemas.openxmlformats.org/package/2006/relationships"><Relationship Type="http://schemas.openxmlformats.org/officeDocument/2006/relationships/slide" Target="/ppt/slides/slide8.xml" Id="R43f430a891ab4068" /><Relationship Type="http://schemas.openxmlformats.org/officeDocument/2006/relationships/notesMaster" Target="/ppt/notesMasters/notesMaster1.xml" Id="R63fa47ba78b6428a" /></Relationships>
</file>

<file path=ppt/notesSlides/_rels/notesSlide9.xml.rels>&#65279;<?xml version="1.0" encoding="utf-8"?><Relationships xmlns="http://schemas.openxmlformats.org/package/2006/relationships"><Relationship Type="http://schemas.openxmlformats.org/officeDocument/2006/relationships/slide" Target="/ppt/slides/slide9.xml" Id="R9b10e530d6124805" /><Relationship Type="http://schemas.openxmlformats.org/officeDocument/2006/relationships/notesMaster" Target="/ppt/notesMasters/notesMaster1.xml" Id="Rdad1750947d44fe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4e44168293044f9" /><Relationship Type="http://schemas.openxmlformats.org/officeDocument/2006/relationships/notesMaster" Target="/ppt/notesMasters/notesMaster1.xml" Id="Rc1e9ee01ad6a4f8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06d470cbab24369" /><Relationship Type="http://schemas.openxmlformats.org/officeDocument/2006/relationships/notesMaster" Target="/ppt/notesMasters/notesMaster1.xml" Id="R9877ced194a7433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890afff6c624fb1" /><Relationship Type="http://schemas.openxmlformats.org/officeDocument/2006/relationships/notesMaster" Target="/ppt/notesMasters/notesMaster1.xml" Id="R29fec1b493bb48c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6ea2b09d51540c5" /><Relationship Type="http://schemas.openxmlformats.org/officeDocument/2006/relationships/notesMaster" Target="/ppt/notesMasters/notesMaster1.xml" Id="Rf361e8a28128464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33b80b75c0a4b56" /><Relationship Type="http://schemas.openxmlformats.org/officeDocument/2006/relationships/notesMaster" Target="/ppt/notesMasters/notesMaster1.xml" Id="Rc27d3a0aaa9c488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0d0a71ae51c4915" /><Relationship Type="http://schemas.openxmlformats.org/officeDocument/2006/relationships/notesMaster" Target="/ppt/notesMasters/notesMaster1.xml" Id="R3aee66cbc26a4bd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1bf8aee642e4ec7" /><Relationship Type="http://schemas.openxmlformats.org/officeDocument/2006/relationships/notesMaster" Target="/ppt/notesMasters/notesMaster1.xml" Id="R946eb23da121412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1f0acc5d65640ed" /><Relationship Type="http://schemas.openxmlformats.org/officeDocument/2006/relationships/notesMaster" Target="/ppt/notesMasters/notesMaster1.xml" Id="R26915878f82d4b7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b2088fdd27a4584" /><Relationship Type="http://schemas.openxmlformats.org/officeDocument/2006/relationships/notesMaster" Target="/ppt/notesMasters/notesMaster1.xml" Id="Rd3fbf2fee29d4c8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a81ab99694e402d" /><Relationship Type="http://schemas.openxmlformats.org/officeDocument/2006/relationships/notesMaster" Target="/ppt/notesMasters/notesMaster1.xml" Id="R6c323672dae6487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Good morning. LABTRACK is a laboratory inventory and equipment borrowing platform. It connects the people who borrow equipment with the assistants who issue it and the administrators who manage inventory. The central idea is simple: every physical unit should have an identity, and every loan should have a traceable record.</a:t>
            </a:r>
          </a:p>
          <a:p xmlns:a="http://schemas.openxmlformats.org/drawingml/2006/main">
            <a:r>
              <a:t/>
            </a:r>
          </a:p>
          <a:p xmlns:a="http://schemas.openxmlformats.org/drawingml/2006/main">
            <a:r>
              <a:t>Project sources:</a:t>
            </a:r>
          </a:p>
          <a:p xmlns:a="http://schemas.openxmlformats.org/drawingml/2006/main">
            <a:r>
              <a:t>D:/PROJECTS/LABTRACK/README.md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these as the problems the project addresses, not findings from a measured campus survey. When inventory and borrowing records are separate, an assistant has to answer several questions manually. Is this unit available? Who took it? When is it due? A count of equipment alone cannot answer those questions.</a:t>
            </a:r>
          </a:p>
          <a:p xmlns:a="http://schemas.openxmlformats.org/drawingml/2006/main">
            <a:r>
              <a:t/>
            </a:r>
          </a:p>
          <a:p xmlns:a="http://schemas.openxmlformats.org/drawingml/2006/main">
            <a:r>
              <a:t>Project sources:</a:t>
            </a:r>
          </a:p>
          <a:p xmlns:a="http://schemas.openxmlformats.org/drawingml/2006/main">
            <a:r>
              <a:t>D:/PROJECTS/LABTRACK/README.md</a:t>
            </a:r>
          </a:p>
          <a:p xmlns:a="http://schemas.openxmlformats.org/drawingml/2006/main">
            <a:r>
              <a:t>D:/PROJECTS/LABTRACK/labtrack_implementation_plan.md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Pitch the value without promising measured savings. LABTRACK brings inventory and the borrowing lifecycle into one application. Students and faculty can see equipment and request it. Assistants manage handover and returns. Administrators manage labs, users and reports. The intended benefit is less repeated record keeping and clearer responsibility.</a:t>
            </a:r>
          </a:p>
          <a:p xmlns:a="http://schemas.openxmlformats.org/drawingml/2006/main">
            <a:r>
              <a:t/>
            </a:r>
          </a:p>
          <a:p xmlns:a="http://schemas.openxmlformats.org/drawingml/2006/main">
            <a:r>
              <a:t>Project sources:</a:t>
            </a:r>
          </a:p>
          <a:p xmlns:a="http://schemas.openxmlformats.org/drawingml/2006/main">
            <a:r>
              <a:t>D:/PROJECTS/LABTRACK/README.md</a:t>
            </a:r>
          </a:p>
          <a:p xmlns:a="http://schemas.openxmlformats.org/drawingml/2006/main">
            <a:r>
              <a:t>D:/PROJECTS/LABTRACK/src/App.jsx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four portals matter. Each role has different work to do, so the application shows different pages and the backend also checks permissions. Assistants work within assigned labs. Student and faculty history is scoped to their own activity. Faculty and assistant self-registration requires approval.</a:t>
            </a:r>
          </a:p>
          <a:p xmlns:a="http://schemas.openxmlformats.org/drawingml/2006/main">
            <a:r>
              <a:t/>
            </a:r>
          </a:p>
          <a:p xmlns:a="http://schemas.openxmlformats.org/drawingml/2006/main">
            <a:r>
              <a:t>Project sources:</a:t>
            </a:r>
          </a:p>
          <a:p xmlns:a="http://schemas.openxmlformats.org/drawingml/2006/main">
            <a:r>
              <a:t>D:/PROJECTS/LABTRACK/src/App.jsx</a:t>
            </a:r>
          </a:p>
          <a:p xmlns:a="http://schemas.openxmlformats.org/drawingml/2006/main">
            <a:r>
              <a:t>D:/PROJECTS/LABTRACK/backend/app/api/deps.py</a:t>
            </a:r>
          </a:p>
          <a:p xmlns:a="http://schemas.openxmlformats.org/drawingml/2006/main">
            <a:r>
              <a:t>D:/PROJECTS/LABTRACK/backend/app/db/models.py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an example: Arduino Uno is an equipment model. Three Arduino Uno boards are three units, each with its own asset ID, condition, status and current lab. The example is illustrative and is not a claim about actual stock. This distinction lets the system record which board a person borrowed rather than just reducing a generic count.</a:t>
            </a:r>
          </a:p>
          <a:p xmlns:a="http://schemas.openxmlformats.org/drawingml/2006/main">
            <a:r>
              <a:t/>
            </a:r>
          </a:p>
          <a:p xmlns:a="http://schemas.openxmlformats.org/drawingml/2006/main">
            <a:r>
              <a:t>Project sources:</a:t>
            </a:r>
          </a:p>
          <a:p xmlns:a="http://schemas.openxmlformats.org/drawingml/2006/main">
            <a:r>
              <a:t>D:/PROJECTS/LABTRACK/backend/app/db/models.py</a:t>
            </a:r>
          </a:p>
          <a:p xmlns:a="http://schemas.openxmlformats.org/drawingml/2006/main">
            <a:r>
              <a:t>D:/PROJECTS/LABTRACK/backend/app/services/asset_ids.py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application supports adding inventory and importing equipment spreadsheets. Every unit receives a unique asset ID and a QR label. The import batch records a content hash per lab so replaying a completed upload does not add the same stock again. The screenshot is existing browser verification evidence with synthetic data, not live inventory.</a:t>
            </a:r>
          </a:p>
          <a:p xmlns:a="http://schemas.openxmlformats.org/drawingml/2006/main">
            <a:r>
              <a:t/>
            </a:r>
          </a:p>
          <a:p xmlns:a="http://schemas.openxmlformats.org/drawingml/2006/main">
            <a:r>
              <a:t>Project sources:</a:t>
            </a:r>
          </a:p>
          <a:p xmlns:a="http://schemas.openxmlformats.org/drawingml/2006/main">
            <a:r>
              <a:t>D:/PROJECTS/LABTRACK/backend/app/services/asset_ids.py</a:t>
            </a:r>
          </a:p>
          <a:p xmlns:a="http://schemas.openxmlformats.org/drawingml/2006/main">
            <a:r>
              <a:t>D:/PROJECTS/LABTRACK/backend/app/db/models.py</a:t>
            </a:r>
          </a:p>
          <a:p xmlns:a="http://schemas.openxmlformats.org/drawingml/2006/main">
            <a:r>
              <a:t>D:/PROJECTS/LABTRACK/audit-artifacts/verified-upload-replay.png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normal student or faculty reservation. First the borrower chooses a model, quantity and dates. The request enters pending review. An authorized assistant or administrator reviews it for that lab. Approval does not itself mean the item has been physically handed over. At checkout, the assistant identifies the borrower and specific asset. The system creates an active loan. On return, the loan closes and the unit status changes.</a:t>
            </a:r>
          </a:p>
          <a:p xmlns:a="http://schemas.openxmlformats.org/drawingml/2006/main">
            <a:r>
              <a:t/>
            </a:r>
          </a:p>
          <a:p xmlns:a="http://schemas.openxmlformats.org/drawingml/2006/main">
            <a:r>
              <a:t>Project sources:</a:t>
            </a:r>
          </a:p>
          <a:p xmlns:a="http://schemas.openxmlformats.org/drawingml/2006/main">
            <a:r>
              <a:t>D:/PROJECTS/LABTRACK/backend/app/api/endpoints/borrowing.py</a:t>
            </a:r>
          </a:p>
          <a:p xmlns:a="http://schemas.openxmlformats.org/drawingml/2006/main">
            <a:r>
              <a:t>D:/PROJECTS/LABTRACK/src/pages/requests/RequestEquipmentPage.jsx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assistant can scan or enter an institutional ID. Exact lookup resolves the registered borrower, including IDs such as 24CE555. The assistant then uses an approved request or the walk-in issue flow. Manual entry provides a fallback if camera scanning is unavailable. QR scanning helps identify an asset, but the backend still checks that it matches the requested model, lab and availability. Physical camera scanning still needs device validation.</a:t>
            </a:r>
          </a:p>
          <a:p xmlns:a="http://schemas.openxmlformats.org/drawingml/2006/main">
            <a:r>
              <a:t/>
            </a:r>
          </a:p>
          <a:p xmlns:a="http://schemas.openxmlformats.org/drawingml/2006/main">
            <a:r>
              <a:t>Project sources:</a:t>
            </a:r>
          </a:p>
          <a:p xmlns:a="http://schemas.openxmlformats.org/drawingml/2006/main">
            <a:r>
              <a:t>D:/PROJECTS/LABTRACK/src/pages/operations/IssueEquipmentPage.jsx</a:t>
            </a:r>
          </a:p>
          <a:p xmlns:a="http://schemas.openxmlformats.org/drawingml/2006/main">
            <a:r>
              <a:t>D:/PROJECTS/LABTRACK/backend/app/api/endpoints/borrowing.py</a:t>
            </a:r>
          </a:p>
          <a:p xmlns:a="http://schemas.openxmlformats.org/drawingml/2006/main">
            <a:r>
              <a:t>D:/PROJECTS/LABTRACK/audit-artifacts/student-id-only-lookup.png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Returns preserve accountability. The assistant finds the active loan using the asset ID and records remarks. A normal return makes the unit available. In the current implementation, remarks containing damage-related words send the unit to maintenance. This is a simple keyword rule, not automated inspection. A multi-unit request reaches returned status when no active loans remain. Overdue is calculated from an active loan whose due date is in the past.</a:t>
            </a:r>
          </a:p>
          <a:p xmlns:a="http://schemas.openxmlformats.org/drawingml/2006/main">
            <a:r>
              <a:t/>
            </a:r>
          </a:p>
          <a:p xmlns:a="http://schemas.openxmlformats.org/drawingml/2006/main">
            <a:r>
              <a:t>Project sources:</a:t>
            </a:r>
          </a:p>
          <a:p xmlns:a="http://schemas.openxmlformats.org/drawingml/2006/main">
            <a:r>
              <a:t>D:/PROJECTS/LABTRACK/backend/app/api/endpoints/borrowing.py</a:t>
            </a:r>
          </a:p>
          <a:p xmlns:a="http://schemas.openxmlformats.org/drawingml/2006/main">
            <a:r>
              <a:t>D:/PROJECTS/LABTRACK/backend/app/db/models.py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current source implementation, which now accepts equipment types and quantities. Faculty select a lab, event details, return date and the required equipment quantities. The assigned active assistant reviews the request and chooses exact asset units. Allocation must match the requested models and quantities. Approval locks the request and units, rechecks stock and issues the batch in one transaction. A pending event request does not reserve stock. Rejection records a reason and leaves units available.</a:t>
            </a:r>
          </a:p>
          <a:p xmlns:a="http://schemas.openxmlformats.org/drawingml/2006/main">
            <a:r>
              <a:t/>
            </a:r>
          </a:p>
          <a:p xmlns:a="http://schemas.openxmlformats.org/drawingml/2006/main">
            <a:r>
              <a:t>Project sources:</a:t>
            </a:r>
          </a:p>
          <a:p xmlns:a="http://schemas.openxmlformats.org/drawingml/2006/main">
            <a:r>
              <a:t>D:/PROJECTS/LABTRACK/backend/app/api/endpoints/events.py</a:t>
            </a:r>
          </a:p>
          <a:p xmlns:a="http://schemas.openxmlformats.org/drawingml/2006/main">
            <a:r>
              <a:t>D:/PROJECTS/LABTRACK/backend/app/api/endpoints/borrowing.py</a:t>
            </a:r>
          </a:p>
          <a:p xmlns:a="http://schemas.openxmlformats.org/drawingml/2006/main">
            <a:r>
              <a:t>D:/PROJECTS/LABTRACK/src/pages/operations/EventIssuePage.jsx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workflows address different situations. Walk-in issue lets an assistant issue available equipment without a prior online reservation. Quick borrow serves short faculty loans with a due time at the end of the day. Inter-lab transfers use a pending and approved workflow, marking units in transit until the receiving assistant completes the transfer. The backend supports transfers, but the current frontend ownership/status display still needs reconciliation.</a:t>
            </a:r>
          </a:p>
          <a:p xmlns:a="http://schemas.openxmlformats.org/drawingml/2006/main">
            <a:r>
              <a:t/>
            </a:r>
          </a:p>
          <a:p xmlns:a="http://schemas.openxmlformats.org/drawingml/2006/main">
            <a:r>
              <a:t>Project sources:</a:t>
            </a:r>
          </a:p>
          <a:p xmlns:a="http://schemas.openxmlformats.org/drawingml/2006/main">
            <a:r>
              <a:t>D:/PROJECTS/LABTRACK/backend/app/api/endpoints/borrowing.py</a:t>
            </a:r>
          </a:p>
          <a:p xmlns:a="http://schemas.openxmlformats.org/drawingml/2006/main">
            <a:r>
              <a:t>D:/PROJECTS/LABTRACK/backend/app/api/endpoints/transfers.py</a:t>
            </a:r>
          </a:p>
          <a:p xmlns:a="http://schemas.openxmlformats.org/drawingml/2006/main">
            <a:r>
              <a:t>D:/PROJECTS/LABTRACK/audit-artifacts/GMAIL_STARTUP_UPDATES.md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request path in plain terms. A user interacts with React pages. The shared Axios client calls FastAPI endpoints. FastAPI validates the request, checks the current user and runs workflow rules. SQLAlchemy queries PostgreSQL and commits changes. The API returns data to update the interface. Alembic manages schema changes. Email uses an optional persistent outbox rather than being required for a loan to succeed.</a:t>
            </a:r>
          </a:p>
          <a:p xmlns:a="http://schemas.openxmlformats.org/drawingml/2006/main">
            <a:r>
              <a:t/>
            </a:r>
          </a:p>
          <a:p xmlns:a="http://schemas.openxmlformats.org/drawingml/2006/main">
            <a:r>
              <a:t>Project sources:</a:t>
            </a:r>
          </a:p>
          <a:p xmlns:a="http://schemas.openxmlformats.org/drawingml/2006/main">
            <a:r>
              <a:t>D:/PROJECTS/LABTRACK/package.json</a:t>
            </a:r>
          </a:p>
          <a:p xmlns:a="http://schemas.openxmlformats.org/drawingml/2006/main">
            <a:r>
              <a:t>D:/PROJECTS/LABTRACK/src/api/client.js</a:t>
            </a:r>
          </a:p>
          <a:p xmlns:a="http://schemas.openxmlformats.org/drawingml/2006/main">
            <a:r>
              <a:t>D:/PROJECTS/LABTRACK/backend/app/api/api_router.py</a:t>
            </a:r>
          </a:p>
          <a:p xmlns:a="http://schemas.openxmlformats.org/drawingml/2006/main">
            <a:r>
              <a:t>D:/PROJECTS/LABTRACK/backend/app/db/database.py</a:t>
            </a:r>
          </a:p>
          <a:p xmlns:a="http://schemas.openxmlformats.org/drawingml/2006/main">
            <a:r>
              <a:t>D:/PROJECTS/LABTRACK/backend/app/services/email_notifications.py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relational design. A department contains labs. An equipment model has many units. A request links a borrower to a model and quantity. A transaction links that borrower and request to one physical unit. Event requests and event issues connect batch loans to their faculty coordinator. Foreign keys maintain those relationships. Supporting records hold transfers, lab assignments, policies and notifications.</a:t>
            </a:r>
          </a:p>
          <a:p xmlns:a="http://schemas.openxmlformats.org/drawingml/2006/main">
            <a:r>
              <a:t/>
            </a:r>
          </a:p>
          <a:p xmlns:a="http://schemas.openxmlformats.org/drawingml/2006/main">
            <a:r>
              <a:t>Project sources:</a:t>
            </a:r>
          </a:p>
          <a:p xmlns:a="http://schemas.openxmlformats.org/drawingml/2006/main">
            <a:r>
              <a:t>D:/PROJECTS/LABTRACK/backend/app/db/models.py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Avoid calling the entire application production-secure. Describe concrete controls: passwords are hashed with bcrypt, JWT tokens carry identity and expiry, and the backend resolves the current active user. Endpoint permissions and assigned-lab checks limit operations. Asset counters allocate unique ranges. A database partial unique index prevents multiple active loans for one asset. Event approval uses row locks and a single database transaction. These controls reduce specific risks, while remaining bugs and deployment checks still need work.</a:t>
            </a:r>
          </a:p>
          <a:p xmlns:a="http://schemas.openxmlformats.org/drawingml/2006/main">
            <a:r>
              <a:t/>
            </a:r>
          </a:p>
          <a:p xmlns:a="http://schemas.openxmlformats.org/drawingml/2006/main">
            <a:r>
              <a:t>Project sources:</a:t>
            </a:r>
          </a:p>
          <a:p xmlns:a="http://schemas.openxmlformats.org/drawingml/2006/main">
            <a:r>
              <a:t>D:/PROJECTS/LABTRACK/backend/app/core/security.py</a:t>
            </a:r>
          </a:p>
          <a:p xmlns:a="http://schemas.openxmlformats.org/drawingml/2006/main">
            <a:r>
              <a:t>D:/PROJECTS/LABTRACK/backend/app/api/deps.py</a:t>
            </a:r>
          </a:p>
          <a:p xmlns:a="http://schemas.openxmlformats.org/drawingml/2006/main">
            <a:r>
              <a:t>D:/PROJECTS/LABTRACK/backend/app/db/models.py</a:t>
            </a:r>
          </a:p>
          <a:p xmlns:a="http://schemas.openxmlformats.org/drawingml/2006/main">
            <a:r>
              <a:t>D:/PROJECTS/LABTRACK/backend/app/services/asset_ids.py</a:t>
            </a:r>
          </a:p>
          <a:p xmlns:a="http://schemas.openxmlformats.org/drawingml/2006/main">
            <a:r>
              <a:t>D:/PROJECTS/LABTRACK/backend/app/api/endpoints/events.py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transaction history is the traceability layer. A loan records the physical asset, borrower, lab and relevant dates. Portal notifications communicate workflow outcomes. Optional Gmail API or SMTP delivery uses a database queue with retries. Live email remains disabled until authorization and provider configuration are completed. The screenshot is test evidence and uses synthetic accounts.</a:t>
            </a:r>
          </a:p>
          <a:p xmlns:a="http://schemas.openxmlformats.org/drawingml/2006/main">
            <a:r>
              <a:t/>
            </a:r>
          </a:p>
          <a:p xmlns:a="http://schemas.openxmlformats.org/drawingml/2006/main">
            <a:r>
              <a:t>Project sources:</a:t>
            </a:r>
          </a:p>
          <a:p xmlns:a="http://schemas.openxmlformats.org/drawingml/2006/main">
            <a:r>
              <a:t>D:/PROJECTS/LABTRACK/backend/app/db/models.py</a:t>
            </a:r>
          </a:p>
          <a:p xmlns:a="http://schemas.openxmlformats.org/drawingml/2006/main">
            <a:r>
              <a:t>D:/PROJECTS/LABTRACK/backend/app/services/email_notifications.py</a:t>
            </a:r>
          </a:p>
          <a:p xmlns:a="http://schemas.openxmlformats.org/drawingml/2006/main">
            <a:r>
              <a:t>D:/PROJECTS/LABTRACK/backend/MAIL_SETUP.md</a:t>
            </a:r>
          </a:p>
          <a:p xmlns:a="http://schemas.openxmlformats.org/drawingml/2006/main">
            <a:r>
              <a:t>D:/PROJECTS/LABTRACK/audit-artifacts/date-only-transactions.png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reporting endpoints derive counts and trends from stored records. They report stock status, active and overdue loans, monthly borrowing and lab utilization. Procurement suggestions are rule-based. The current code suggests initial stock for an empty model, more units when utilization exceeds 80 percent, or additional stock when the count of pending requests exceeds available units. The pending metric counts requests, not total requested quantity. These are planning prompts, not machine-learning forecasts or automatic purchases.</a:t>
            </a:r>
          </a:p>
          <a:p xmlns:a="http://schemas.openxmlformats.org/drawingml/2006/main">
            <a:r>
              <a:t/>
            </a:r>
          </a:p>
          <a:p xmlns:a="http://schemas.openxmlformats.org/drawingml/2006/main">
            <a:r>
              <a:t>Project sources:</a:t>
            </a:r>
          </a:p>
          <a:p xmlns:a="http://schemas.openxmlformats.org/drawingml/2006/main">
            <a:r>
              <a:t>D:/PROJECTS/LABTRACK/backend/app/api/endpoints/analytics.py</a:t>
            </a:r>
          </a:p>
          <a:p xmlns:a="http://schemas.openxmlformats.org/drawingml/2006/main">
            <a:r>
              <a:t>D:/PROJECTS/LABTRACK/src/pages/analytics/ReportsAnalyticsPage.jsx</a:t>
            </a:r>
          </a:p>
          <a:p xmlns:a="http://schemas.openxmlformats.org/drawingml/2006/main">
            <a:r>
              <a:t>D:/PROJECTS/LABTRACK/src/pages/analytics/SmartProcurementPage.jsx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candid in the faculty evaluation. The current source contains inventory, borrowing, event approvals, reports and portal notifications. Repository verification reports document regression checks on disposable databases and successful builds. Those reports do not prove the latest working tree, every user journey or public deployment is complete. Known remaining work includes extension review integration, transfer display consistency, placeholder account/procurement actions and automatic overdue scheduling. Real email and physical camera scanning require external validation.</a:t>
            </a:r>
          </a:p>
          <a:p xmlns:a="http://schemas.openxmlformats.org/drawingml/2006/main">
            <a:r>
              <a:t/>
            </a:r>
          </a:p>
          <a:p xmlns:a="http://schemas.openxmlformats.org/drawingml/2006/main">
            <a:r>
              <a:t>Project sources:</a:t>
            </a:r>
          </a:p>
          <a:p xmlns:a="http://schemas.openxmlformats.org/drawingml/2006/main">
            <a:r>
              <a:t>D:/PROJECTS/LABTRACK/audit-artifacts/EVENT_ID_UPDATES.md</a:t>
            </a:r>
          </a:p>
          <a:p xmlns:a="http://schemas.openxmlformats.org/drawingml/2006/main">
            <a:r>
              <a:t>D:/PROJECTS/LABTRACK/audit-artifacts/GMAIL_STARTUP_UPDATES.md</a:t>
            </a:r>
          </a:p>
          <a:p xmlns:a="http://schemas.openxmlformats.org/drawingml/2006/main">
            <a:r>
              <a:t>D:/PROJECTS/LABTRACK/README.md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prepared development database and accounts, not real users. First show inventory and an available unit. Switch to a student or faculty account and submit a standard request. Switch to the assigned assistant to approve and issue the unit. Show that the loan is active. Return the item and show its available status and transaction history. If time allows, show the faculty event request and assistant allocation. If a live screen fails, the verification screenshots in this deck provide a fallback. This is a proposed presentation sequence, not a claim that a fresh end-to-end rehearsal has run.</a:t>
            </a:r>
          </a:p>
          <a:p xmlns:a="http://schemas.openxmlformats.org/drawingml/2006/main">
            <a:r>
              <a:t/>
            </a:r>
          </a:p>
          <a:p xmlns:a="http://schemas.openxmlformats.org/drawingml/2006/main">
            <a:r>
              <a:t>Project sources:</a:t>
            </a:r>
          </a:p>
          <a:p xmlns:a="http://schemas.openxmlformats.org/drawingml/2006/main">
            <a:r>
              <a:t>D:/PROJECTS/LABTRACK/README.md</a:t>
            </a:r>
          </a:p>
          <a:p xmlns:a="http://schemas.openxmlformats.org/drawingml/2006/main">
            <a:r>
              <a:t>D:/PROJECTS/LABTRACK/src/App.jsx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LABTRACK demonstrates how a laboratory can connect inventory to the people and processes that use it. Its main contribution is traceability at the physical-unit level, with responsibilities separated across roles. The next step is to complete the remaining workflows and validate a small pilot with one lab. Do not claim that the pilot has already happened. Thank the faculty and invite questions.</a:t>
            </a:r>
          </a:p>
          <a:p xmlns:a="http://schemas.openxmlformats.org/drawingml/2006/main">
            <a:r>
              <a:t/>
            </a:r>
          </a:p>
          <a:p xmlns:a="http://schemas.openxmlformats.org/drawingml/2006/main">
            <a:r>
              <a:t>Project sources:</a:t>
            </a:r>
          </a:p>
          <a:p xmlns:a="http://schemas.openxmlformats.org/drawingml/2006/main">
            <a:r>
              <a:t>D:/PROJECTS/LABTRACK/README.md</a:t>
            </a:r>
          </a:p>
          <a:p xmlns:a="http://schemas.openxmlformats.org/drawingml/2006/main">
            <a:r>
              <a:t>D:/PROJECTS/LABTRACK/backend/app/db/models.py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f8916b8eae6408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a6202c575a044e3" /><Relationship Type="http://schemas.openxmlformats.org/officeDocument/2006/relationships/slideLayout" Target="/ppt/slideLayouts/slideLayout1.xml" Id="Rf4ca71bc8464440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4ca71bc8464440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ac285e4db8c4ec1" /><Relationship Type="http://schemas.openxmlformats.org/officeDocument/2006/relationships/notesSlide" Target="/ppt/notesSlides/notesSlide1.xml" Id="Re15627c659f04e7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e6e9930a9d0412c" /><Relationship Type="http://schemas.openxmlformats.org/officeDocument/2006/relationships/notesSlide" Target="/ppt/notesSlides/notesSlide2.xml" Id="Re5dfe8e8bab047e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07e0cf722334ee5" /><Relationship Type="http://schemas.openxmlformats.org/officeDocument/2006/relationships/notesSlide" Target="/ppt/notesSlides/notesSlide3.xml" Id="R860ef0e5f238444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cf264950e3345d5" /><Relationship Type="http://schemas.openxmlformats.org/officeDocument/2006/relationships/notesSlide" Target="/ppt/notesSlides/notesSlide4.xml" Id="R96dcb1ad2eba4e1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04829c76fb94593" /><Relationship Type="http://schemas.openxmlformats.org/officeDocument/2006/relationships/notesSlide" Target="/ppt/notesSlides/notesSlide5.xml" Id="Re6fa2dabda32437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a69125d0502468a" /><Relationship Type="http://schemas.openxmlformats.org/officeDocument/2006/relationships/image" Target="/ppt/media/image.jpeg" Id="R27a268d673944dda" /><Relationship Type="http://schemas.openxmlformats.org/officeDocument/2006/relationships/notesSlide" Target="/ppt/notesSlides/notesSlide6.xml" Id="Rf43c5b5a8545499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4a25ab5947a4cba" /><Relationship Type="http://schemas.openxmlformats.org/officeDocument/2006/relationships/notesSlide" Target="/ppt/notesSlides/notesSlide7.xml" Id="Rfe82fe362efe437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eed550a2beb4d49" /><Relationship Type="http://schemas.openxmlformats.org/officeDocument/2006/relationships/image" Target="/ppt/media/image2.jpeg" Id="Rf4d3cd37fd9a4c4a" /><Relationship Type="http://schemas.openxmlformats.org/officeDocument/2006/relationships/notesSlide" Target="/ppt/notesSlides/notesSlide8.xml" Id="R817a87b5ffaa4ff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a7d92ae707f444c" /><Relationship Type="http://schemas.openxmlformats.org/officeDocument/2006/relationships/notesSlide" Target="/ppt/notesSlides/notesSlide9.xml" Id="Re7ffc49a74504bb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5c26c79ec2b4a51" /><Relationship Type="http://schemas.openxmlformats.org/officeDocument/2006/relationships/notesSlide" Target="/ppt/notesSlides/notesSlide10.xml" Id="Rc69b978019e04f9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1d04fbe012e4aa6" /><Relationship Type="http://schemas.openxmlformats.org/officeDocument/2006/relationships/notesSlide" Target="/ppt/notesSlides/notesSlide11.xml" Id="Rf54da1374022424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9e35eaedabe4c6c" /><Relationship Type="http://schemas.openxmlformats.org/officeDocument/2006/relationships/notesSlide" Target="/ppt/notesSlides/notesSlide12.xml" Id="R8f553cfc181c4a5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9722217817748cc" /><Relationship Type="http://schemas.openxmlformats.org/officeDocument/2006/relationships/notesSlide" Target="/ppt/notesSlides/notesSlide13.xml" Id="R4fa3388270244b2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2333db9bdad4a65" /><Relationship Type="http://schemas.openxmlformats.org/officeDocument/2006/relationships/notesSlide" Target="/ppt/notesSlides/notesSlide14.xml" Id="Rc091ace577ac402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ad84d832b96408f" /><Relationship Type="http://schemas.openxmlformats.org/officeDocument/2006/relationships/image" Target="/ppt/media/image3.jpeg" Id="R546c6a42bf6647cb" /><Relationship Type="http://schemas.openxmlformats.org/officeDocument/2006/relationships/notesSlide" Target="/ppt/notesSlides/notesSlide15.xml" Id="R65cea75a003e444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03f5967b3cf47b6" /><Relationship Type="http://schemas.openxmlformats.org/officeDocument/2006/relationships/notesSlide" Target="/ppt/notesSlides/notesSlide16.xml" Id="R9c5089e68661479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ede266d8a9b4607" /><Relationship Type="http://schemas.openxmlformats.org/officeDocument/2006/relationships/notesSlide" Target="/ppt/notesSlides/notesSlide17.xml" Id="R5b299b6fa14247f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3616bb3b5644244" /><Relationship Type="http://schemas.openxmlformats.org/officeDocument/2006/relationships/notesSlide" Target="/ppt/notesSlides/notesSlide18.xml" Id="R1d740eb9750840a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cede20bf2c94b22" /><Relationship Type="http://schemas.openxmlformats.org/officeDocument/2006/relationships/notesSlide" Target="/ppt/notesSlides/notesSlide19.xml" Id="Rf55d6f6c5f5d4dea" /></Relationships>
</file>

<file path=ppt/slides/slide1.xml><?xml version="1.0" encoding="utf-8"?>
<p:sld xmlns:p="http://schemas.openxmlformats.org/presentationml/2006/main">
  <p:cSld>
    <p:bg>
      <p:bgPr>
        <a:solidFill xmlns:a="http://schemas.openxmlformats.org/drawingml/2006/main">
          <a:srgbClr val="101D3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B213B59-ADCB-4549-9B5A-79139FC0027D}"/>
              </a:ext>
            </a:extLst>
          </p:cNvPr>
          <p:cNvSpPr>
            <a:spLocks xmlns:a="http://schemas.openxmlformats.org/drawingml/2006/main" noGrp="1"/>
          </p:cNvSpPr>
          <p:nvPr/>
        </p:nvSpPr>
        <p:spPr>
          <a:xfrm xmlns:a="http://schemas.openxmlformats.org/drawingml/2006/main">
            <a:off x="685800" y="495300"/>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LABTRACK</a:t>
            </a:r>
          </a:p>
        </p:txBody>
      </p:sp>
      <p:sp>
        <p:nvSpPr>
          <p:cNvPr id="2" name="">
            <a:extLst xmlns:a="http://schemas.openxmlformats.org/drawingml/2006/main">
              <a:ext uri="{FF2B5EF4-FFF2-40B4-BE49-F238E27FC236}">
                <a16:creationId xmlns:a16="http://schemas.microsoft.com/office/drawing/2014/main" id="{04AB53BD-FA89-4D0A-A54B-475FFDD513A9}"/>
              </a:ext>
            </a:extLst>
          </p:cNvPr>
          <p:cNvSpPr>
            <a:spLocks xmlns:a="http://schemas.openxmlformats.org/drawingml/2006/main" noGrp="1"/>
          </p:cNvSpPr>
          <p:nvPr/>
        </p:nvSpPr>
        <p:spPr>
          <a:xfrm xmlns:a="http://schemas.openxmlformats.org/drawingml/2006/main">
            <a:off x="11144250" y="63055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B9CBE4"/>
                </a:solidFill>
                <a:latin typeface="Arial"/>
                <a:ea typeface="Arial"/>
                <a:cs typeface="Arial"/>
              </a:defRPr>
            </a:pPr>
            <a:r>
              <a:rPr sz="1350" b="0">
                <a:solidFill>
                  <a:srgbClr val="B9CBE4"/>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672483FD-2E98-4578-991F-74BB984C6468}"/>
              </a:ext>
            </a:extLst>
          </p:cNvPr>
          <p:cNvSpPr>
            <a:spLocks xmlns:a="http://schemas.openxmlformats.org/drawingml/2006/main" noGrp="1"/>
          </p:cNvSpPr>
          <p:nvPr/>
        </p:nvSpPr>
        <p:spPr>
          <a:xfrm xmlns:a="http://schemas.openxmlformats.org/drawingml/2006/main">
            <a:off x="685800" y="2133600"/>
            <a:ext cx="1028700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Laboratory inventory &amp;</a:t>
            </a:r>
          </a:p>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equipment borrowing</a:t>
            </a:r>
          </a:p>
        </p:txBody>
      </p:sp>
      <p:sp>
        <p:nvSpPr>
          <p:cNvPr id="4" name="">
            <a:extLst xmlns:a="http://schemas.openxmlformats.org/drawingml/2006/main">
              <a:ext uri="{FF2B5EF4-FFF2-40B4-BE49-F238E27FC236}">
                <a16:creationId xmlns:a16="http://schemas.microsoft.com/office/drawing/2014/main" id="{B0BC2B91-9FD9-4953-BB82-5B6CDCA61650}"/>
              </a:ext>
            </a:extLst>
          </p:cNvPr>
          <p:cNvSpPr>
            <a:spLocks xmlns:a="http://schemas.openxmlformats.org/drawingml/2006/main" noGrp="1"/>
          </p:cNvSpPr>
          <p:nvPr/>
        </p:nvSpPr>
        <p:spPr>
          <a:xfrm xmlns:a="http://schemas.openxmlformats.org/drawingml/2006/main">
            <a:off x="723900" y="432435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B9CBE4"/>
                </a:solidFill>
                <a:latin typeface="Arial"/>
                <a:ea typeface="Arial"/>
                <a:cs typeface="Arial"/>
              </a:defRPr>
            </a:pPr>
            <a:r>
              <a:rPr sz="2250" b="0">
                <a:solidFill>
                  <a:srgbClr val="B9CBE4"/>
                </a:solidFill>
                <a:latin typeface="Arial"/>
                <a:ea typeface="Arial"/>
                <a:cs typeface="Arial"/>
              </a:rPr>
              <a:t>Project pitch and system walkthrough</a:t>
            </a:r>
          </a:p>
        </p:txBody>
      </p:sp>
      <p:sp>
        <p:nvSpPr>
          <p:cNvPr id="5" name="">
            <a:extLst xmlns:a="http://schemas.openxmlformats.org/drawingml/2006/main">
              <a:ext uri="{FF2B5EF4-FFF2-40B4-BE49-F238E27FC236}">
                <a16:creationId xmlns:a16="http://schemas.microsoft.com/office/drawing/2014/main" id="{747E974F-B5D6-466A-891B-9C50A057DD0E}"/>
              </a:ext>
            </a:extLst>
          </p:cNvPr>
          <p:cNvSpPr>
            <a:spLocks xmlns:a="http://schemas.openxmlformats.org/drawingml/2006/main" noGrp="1"/>
          </p:cNvSpPr>
          <p:nvPr/>
        </p:nvSpPr>
        <p:spPr>
          <a:xfrm xmlns:a="http://schemas.openxmlformats.org/drawingml/2006/main">
            <a:off x="723900" y="5476875"/>
            <a:ext cx="723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64D9C1"/>
                </a:solidFill>
                <a:latin typeface="Arial"/>
                <a:ea typeface="Arial"/>
                <a:cs typeface="Arial"/>
              </a:defRPr>
            </a:pPr>
            <a:r>
              <a:rPr sz="1650" b="0">
                <a:solidFill>
                  <a:srgbClr val="64D9C1"/>
                </a:solidFill>
                <a:latin typeface="Arial"/>
                <a:ea typeface="Arial"/>
                <a:cs typeface="Arial"/>
              </a:rPr>
              <a:t>Faculty presentation</a:t>
            </a:r>
          </a:p>
          <a:p xmlns:a="http://schemas.openxmlformats.org/drawingml/2006/main">
            <a:pPr>
              <a:defRPr sz="1650" b="0">
                <a:solidFill>
                  <a:srgbClr val="64D9C1"/>
                </a:solidFill>
                <a:latin typeface="Arial"/>
                <a:ea typeface="Arial"/>
                <a:cs typeface="Arial"/>
              </a:defRPr>
            </a:pPr>
            <a:r>
              <a:rPr sz="1650" b="0">
                <a:solidFill>
                  <a:srgbClr val="64D9C1"/>
                </a:solidFill>
                <a:latin typeface="Arial"/>
                <a:ea typeface="Arial"/>
                <a:cs typeface="Arial"/>
              </a:rPr>
              <a:t>9 October 2026</a:t>
            </a:r>
          </a:p>
        </p:txBody>
      </p:sp>
    </p:spTree>
    <p:extLst>
      <p:ext uri="{BB962C8B-B14F-4D97-AF65-F5344CB8AC3E}">
        <p14:creationId xmlns:p14="http://schemas.microsoft.com/office/powerpoint/2010/main" val="106425028"/>
      </p:ext>
    </p:extLst>
  </p:cSld>
</p:sld>
</file>

<file path=ppt/slides/slide2.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502570B-E3D5-4934-9681-8A486EE64B5A}"/>
              </a:ext>
            </a:extLst>
          </p:cNvPr>
          <p:cNvSpPr>
            <a:spLocks xmlns:a="http://schemas.openxmlformats.org/drawingml/2006/main" noGrp="1"/>
          </p:cNvSpPr>
          <p:nvPr/>
        </p:nvSpPr>
        <p:spPr>
          <a:xfrm xmlns:a="http://schemas.openxmlformats.org/drawingml/2006/main">
            <a:off x="685800" y="495300"/>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82B46"/>
                </a:solidFill>
                <a:latin typeface="Arial"/>
                <a:ea typeface="Arial"/>
                <a:cs typeface="Arial"/>
              </a:defRPr>
            </a:pPr>
            <a:r>
              <a:rPr sz="3450" b="1">
                <a:solidFill>
                  <a:srgbClr val="182B46"/>
                </a:solidFill>
                <a:latin typeface="Arial"/>
                <a:ea typeface="Arial"/>
                <a:cs typeface="Arial"/>
              </a:rPr>
              <a:t>The laboratory management problem</a:t>
            </a:r>
          </a:p>
        </p:txBody>
      </p:sp>
      <p:sp>
        <p:nvSpPr>
          <p:cNvPr id="2" name="">
            <a:extLst xmlns:a="http://schemas.openxmlformats.org/drawingml/2006/main">
              <a:ext uri="{FF2B5EF4-FFF2-40B4-BE49-F238E27FC236}">
                <a16:creationId xmlns:a16="http://schemas.microsoft.com/office/drawing/2014/main" id="{A80CA400-0CA0-40EB-AF30-3F97135E83C2}"/>
              </a:ext>
            </a:extLst>
          </p:cNvPr>
          <p:cNvSpPr>
            <a:spLocks xmlns:a="http://schemas.openxmlformats.org/drawingml/2006/main" noGrp="1"/>
          </p:cNvSpPr>
          <p:nvPr/>
        </p:nvSpPr>
        <p:spPr>
          <a:xfrm xmlns:a="http://schemas.openxmlformats.org/drawingml/2006/main">
            <a:off x="11144250" y="63055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47B"/>
                </a:solidFill>
                <a:latin typeface="Arial"/>
                <a:ea typeface="Arial"/>
                <a:cs typeface="Arial"/>
              </a:defRPr>
            </a:pPr>
            <a:r>
              <a:rPr sz="1350" b="0">
                <a:solidFill>
                  <a:srgbClr val="52647B"/>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5BDD62EC-FD29-4DE7-84D2-AFAFB2B204D3}"/>
              </a:ext>
            </a:extLst>
          </p:cNvPr>
          <p:cNvSpPr>
            <a:spLocks xmlns:a="http://schemas.openxmlformats.org/drawingml/2006/main" noGrp="1"/>
          </p:cNvSpPr>
          <p:nvPr/>
        </p:nvSpPr>
        <p:spPr>
          <a:xfrm xmlns:a="http://schemas.openxmlformats.org/drawingml/2006/main">
            <a:off x="685800" y="176212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Availability</a:t>
            </a:r>
          </a:p>
        </p:txBody>
      </p:sp>
      <p:sp>
        <p:nvSpPr>
          <p:cNvPr id="4" name="">
            <a:extLst xmlns:a="http://schemas.openxmlformats.org/drawingml/2006/main">
              <a:ext uri="{FF2B5EF4-FFF2-40B4-BE49-F238E27FC236}">
                <a16:creationId xmlns:a16="http://schemas.microsoft.com/office/drawing/2014/main" id="{EF478216-CA4A-4C81-B54C-A53D44FC4093}"/>
              </a:ext>
            </a:extLst>
          </p:cNvPr>
          <p:cNvSpPr>
            <a:spLocks xmlns:a="http://schemas.openxmlformats.org/drawingml/2006/main" noGrp="1"/>
          </p:cNvSpPr>
          <p:nvPr/>
        </p:nvSpPr>
        <p:spPr>
          <a:xfrm xmlns:a="http://schemas.openxmlformats.org/drawingml/2006/main">
            <a:off x="685800" y="2162175"/>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A stock count does not explain which physical units are ready to borrow.</a:t>
            </a:r>
          </a:p>
        </p:txBody>
      </p:sp>
      <p:sp>
        <p:nvSpPr>
          <p:cNvPr id="5" name="">
            <a:extLst xmlns:a="http://schemas.openxmlformats.org/drawingml/2006/main">
              <a:ext uri="{FF2B5EF4-FFF2-40B4-BE49-F238E27FC236}">
                <a16:creationId xmlns:a16="http://schemas.microsoft.com/office/drawing/2014/main" id="{C35C56FA-8811-4494-B734-D6E6DA5CBD86}"/>
              </a:ext>
            </a:extLst>
          </p:cNvPr>
          <p:cNvSpPr>
            <a:spLocks xmlns:a="http://schemas.openxmlformats.org/drawingml/2006/main" noGrp="1"/>
          </p:cNvSpPr>
          <p:nvPr/>
        </p:nvSpPr>
        <p:spPr>
          <a:xfrm xmlns:a="http://schemas.openxmlformats.org/drawingml/2006/main">
            <a:off x="685800" y="28194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Responsibility</a:t>
            </a:r>
          </a:p>
        </p:txBody>
      </p:sp>
      <p:sp>
        <p:nvSpPr>
          <p:cNvPr id="6" name="">
            <a:extLst xmlns:a="http://schemas.openxmlformats.org/drawingml/2006/main">
              <a:ext uri="{FF2B5EF4-FFF2-40B4-BE49-F238E27FC236}">
                <a16:creationId xmlns:a16="http://schemas.microsoft.com/office/drawing/2014/main" id="{CB136E0C-02BB-4DDC-B4E7-4B34FC89E48D}"/>
              </a:ext>
            </a:extLst>
          </p:cNvPr>
          <p:cNvSpPr>
            <a:spLocks xmlns:a="http://schemas.openxmlformats.org/drawingml/2006/main" noGrp="1"/>
          </p:cNvSpPr>
          <p:nvPr/>
        </p:nvSpPr>
        <p:spPr>
          <a:xfrm xmlns:a="http://schemas.openxmlformats.org/drawingml/2006/main">
            <a:off x="685800" y="32194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A loan needs a named borrower, issuing lab and due date.</a:t>
            </a:r>
          </a:p>
        </p:txBody>
      </p:sp>
      <p:sp>
        <p:nvSpPr>
          <p:cNvPr id="7" name="">
            <a:extLst xmlns:a="http://schemas.openxmlformats.org/drawingml/2006/main">
              <a:ext uri="{FF2B5EF4-FFF2-40B4-BE49-F238E27FC236}">
                <a16:creationId xmlns:a16="http://schemas.microsoft.com/office/drawing/2014/main" id="{4E0F0A62-5FDB-4B59-8E68-47EF4F15E53A}"/>
              </a:ext>
            </a:extLst>
          </p:cNvPr>
          <p:cNvSpPr>
            <a:spLocks xmlns:a="http://schemas.openxmlformats.org/drawingml/2006/main" noGrp="1"/>
          </p:cNvSpPr>
          <p:nvPr/>
        </p:nvSpPr>
        <p:spPr>
          <a:xfrm xmlns:a="http://schemas.openxmlformats.org/drawingml/2006/main">
            <a:off x="685800" y="38766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Coordination</a:t>
            </a:r>
          </a:p>
        </p:txBody>
      </p:sp>
      <p:sp>
        <p:nvSpPr>
          <p:cNvPr id="8" name="">
            <a:extLst xmlns:a="http://schemas.openxmlformats.org/drawingml/2006/main">
              <a:ext uri="{FF2B5EF4-FFF2-40B4-BE49-F238E27FC236}">
                <a16:creationId xmlns:a16="http://schemas.microsoft.com/office/drawing/2014/main" id="{F2ABFD49-DB23-47B1-851A-87DB14FC0B45}"/>
              </a:ext>
            </a:extLst>
          </p:cNvPr>
          <p:cNvSpPr>
            <a:spLocks xmlns:a="http://schemas.openxmlformats.org/drawingml/2006/main" noGrp="1"/>
          </p:cNvSpPr>
          <p:nvPr/>
        </p:nvSpPr>
        <p:spPr>
          <a:xfrm xmlns:a="http://schemas.openxmlformats.org/drawingml/2006/main">
            <a:off x="685800" y="4276725"/>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Requests, approvals and counter handover need a shared record.</a:t>
            </a:r>
          </a:p>
        </p:txBody>
      </p:sp>
      <p:sp>
        <p:nvSpPr>
          <p:cNvPr id="9" name="">
            <a:extLst xmlns:a="http://schemas.openxmlformats.org/drawingml/2006/main">
              <a:ext uri="{FF2B5EF4-FFF2-40B4-BE49-F238E27FC236}">
                <a16:creationId xmlns:a16="http://schemas.microsoft.com/office/drawing/2014/main" id="{1680B797-0795-4991-9C7B-F7ED80565D38}"/>
              </a:ext>
            </a:extLst>
          </p:cNvPr>
          <p:cNvSpPr>
            <a:spLocks xmlns:a="http://schemas.openxmlformats.org/drawingml/2006/main" noGrp="1"/>
          </p:cNvSpPr>
          <p:nvPr/>
        </p:nvSpPr>
        <p:spPr>
          <a:xfrm xmlns:a="http://schemas.openxmlformats.org/drawingml/2006/main">
            <a:off x="685800" y="493395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Planning</a:t>
            </a:r>
          </a:p>
        </p:txBody>
      </p:sp>
      <p:sp>
        <p:nvSpPr>
          <p:cNvPr id="10" name="">
            <a:extLst xmlns:a="http://schemas.openxmlformats.org/drawingml/2006/main">
              <a:ext uri="{FF2B5EF4-FFF2-40B4-BE49-F238E27FC236}">
                <a16:creationId xmlns:a16="http://schemas.microsoft.com/office/drawing/2014/main" id="{DA985515-3009-4438-A71E-A399A9C5281C}"/>
              </a:ext>
            </a:extLst>
          </p:cNvPr>
          <p:cNvSpPr>
            <a:spLocks xmlns:a="http://schemas.openxmlformats.org/drawingml/2006/main" noGrp="1"/>
          </p:cNvSpPr>
          <p:nvPr/>
        </p:nvSpPr>
        <p:spPr>
          <a:xfrm xmlns:a="http://schemas.openxmlformats.org/drawingml/2006/main">
            <a:off x="685800" y="53340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Administrators need usage and shortage information before buying stock.</a:t>
            </a:r>
          </a:p>
        </p:txBody>
      </p:sp>
    </p:spTree>
    <p:extLst>
      <p:ext uri="{BB962C8B-B14F-4D97-AF65-F5344CB8AC3E}">
        <p14:creationId xmlns:p14="http://schemas.microsoft.com/office/powerpoint/2010/main" val="747967578"/>
      </p:ext>
    </p:extLst>
  </p:cSld>
</p:sld>
</file>

<file path=ppt/slides/slide3.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8AE7A13-932D-484E-ACE6-3F3DB53BAEB2}"/>
              </a:ext>
            </a:extLst>
          </p:cNvPr>
          <p:cNvSpPr>
            <a:spLocks xmlns:a="http://schemas.openxmlformats.org/drawingml/2006/main" noGrp="1"/>
          </p:cNvSpPr>
          <p:nvPr/>
        </p:nvSpPr>
        <p:spPr>
          <a:xfrm xmlns:a="http://schemas.openxmlformats.org/drawingml/2006/main">
            <a:off x="685800" y="495300"/>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82B46"/>
                </a:solidFill>
                <a:latin typeface="Arial"/>
                <a:ea typeface="Arial"/>
                <a:cs typeface="Arial"/>
              </a:defRPr>
            </a:pPr>
            <a:r>
              <a:rPr sz="3450" b="1">
                <a:solidFill>
                  <a:srgbClr val="182B46"/>
                </a:solidFill>
                <a:latin typeface="Arial"/>
                <a:ea typeface="Arial"/>
                <a:cs typeface="Arial"/>
              </a:rPr>
              <a:t>The LABTRACK solution</a:t>
            </a:r>
          </a:p>
        </p:txBody>
      </p:sp>
      <p:sp>
        <p:nvSpPr>
          <p:cNvPr id="2" name="">
            <a:extLst xmlns:a="http://schemas.openxmlformats.org/drawingml/2006/main">
              <a:ext uri="{FF2B5EF4-FFF2-40B4-BE49-F238E27FC236}">
                <a16:creationId xmlns:a16="http://schemas.microsoft.com/office/drawing/2014/main" id="{EFDA6BBD-EB2F-4814-9598-83AEF88C7EB2}"/>
              </a:ext>
            </a:extLst>
          </p:cNvPr>
          <p:cNvSpPr>
            <a:spLocks xmlns:a="http://schemas.openxmlformats.org/drawingml/2006/main" noGrp="1"/>
          </p:cNvSpPr>
          <p:nvPr/>
        </p:nvSpPr>
        <p:spPr>
          <a:xfrm xmlns:a="http://schemas.openxmlformats.org/drawingml/2006/main">
            <a:off x="11144250" y="63055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47B"/>
                </a:solidFill>
                <a:latin typeface="Arial"/>
                <a:ea typeface="Arial"/>
                <a:cs typeface="Arial"/>
              </a:defRPr>
            </a:pPr>
            <a:r>
              <a:rPr sz="1350" b="0">
                <a:solidFill>
                  <a:srgbClr val="52647B"/>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F16321EB-9C42-4770-8DFC-6735078B48E7}"/>
              </a:ext>
            </a:extLst>
          </p:cNvPr>
          <p:cNvSpPr>
            <a:spLocks xmlns:a="http://schemas.openxmlformats.org/drawingml/2006/main" noGrp="1"/>
          </p:cNvSpPr>
          <p:nvPr/>
        </p:nvSpPr>
        <p:spPr>
          <a:xfrm xmlns:a="http://schemas.openxmlformats.org/drawingml/2006/main">
            <a:off x="685800" y="1800225"/>
            <a:ext cx="10382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825" b="1">
                <a:solidFill>
                  <a:srgbClr val="2559BD"/>
                </a:solidFill>
                <a:latin typeface="Arial"/>
                <a:ea typeface="Arial"/>
                <a:cs typeface="Arial"/>
              </a:defRPr>
            </a:pPr>
            <a:r>
              <a:rPr sz="3825" b="1">
                <a:solidFill>
                  <a:srgbClr val="2559BD"/>
                </a:solidFill>
                <a:latin typeface="Arial"/>
                <a:ea typeface="Arial"/>
                <a:cs typeface="Arial"/>
              </a:rPr>
              <a:t>One equipment record.</a:t>
            </a:r>
          </a:p>
          <a:p xmlns:a="http://schemas.openxmlformats.org/drawingml/2006/main">
            <a:pPr>
              <a:defRPr sz="3825" b="1">
                <a:solidFill>
                  <a:srgbClr val="2559BD"/>
                </a:solidFill>
                <a:latin typeface="Arial"/>
                <a:ea typeface="Arial"/>
                <a:cs typeface="Arial"/>
              </a:defRPr>
            </a:pPr>
            <a:r>
              <a:rPr sz="3825" b="1">
                <a:solidFill>
                  <a:srgbClr val="2559BD"/>
                </a:solidFill>
                <a:latin typeface="Arial"/>
                <a:ea typeface="Arial"/>
                <a:cs typeface="Arial"/>
              </a:rPr>
              <a:t>A complete borrowing history.</a:t>
            </a:r>
          </a:p>
        </p:txBody>
      </p:sp>
      <p:sp>
        <p:nvSpPr>
          <p:cNvPr id="4" name="">
            <a:extLst xmlns:a="http://schemas.openxmlformats.org/drawingml/2006/main">
              <a:ext uri="{FF2B5EF4-FFF2-40B4-BE49-F238E27FC236}">
                <a16:creationId xmlns:a16="http://schemas.microsoft.com/office/drawing/2014/main" id="{0E218B43-182C-4157-B6BE-1F5661C65962}"/>
              </a:ext>
            </a:extLst>
          </p:cNvPr>
          <p:cNvSpPr>
            <a:spLocks xmlns:a="http://schemas.openxmlformats.org/drawingml/2006/main" noGrp="1"/>
          </p:cNvSpPr>
          <p:nvPr/>
        </p:nvSpPr>
        <p:spPr>
          <a:xfrm xmlns:a="http://schemas.openxmlformats.org/drawingml/2006/main">
            <a:off x="685800" y="352425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Unit identity</a:t>
            </a:r>
          </a:p>
        </p:txBody>
      </p:sp>
      <p:sp>
        <p:nvSpPr>
          <p:cNvPr id="5" name="">
            <a:extLst xmlns:a="http://schemas.openxmlformats.org/drawingml/2006/main">
              <a:ext uri="{FF2B5EF4-FFF2-40B4-BE49-F238E27FC236}">
                <a16:creationId xmlns:a16="http://schemas.microsoft.com/office/drawing/2014/main" id="{9DCC3CA6-11DC-4AA2-9639-3D995FC263E2}"/>
              </a:ext>
            </a:extLst>
          </p:cNvPr>
          <p:cNvSpPr>
            <a:spLocks xmlns:a="http://schemas.openxmlformats.org/drawingml/2006/main" noGrp="1"/>
          </p:cNvSpPr>
          <p:nvPr/>
        </p:nvSpPr>
        <p:spPr>
          <a:xfrm xmlns:a="http://schemas.openxmlformats.org/drawingml/2006/main">
            <a:off x="685800" y="39243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Unique asset IDs and QR labels identify each physical item.</a:t>
            </a:r>
          </a:p>
        </p:txBody>
      </p:sp>
      <p:sp>
        <p:nvSpPr>
          <p:cNvPr id="6" name="">
            <a:extLst xmlns:a="http://schemas.openxmlformats.org/drawingml/2006/main">
              <a:ext uri="{FF2B5EF4-FFF2-40B4-BE49-F238E27FC236}">
                <a16:creationId xmlns:a16="http://schemas.microsoft.com/office/drawing/2014/main" id="{EEBEF993-8940-471A-8FE0-D4C377AA64BA}"/>
              </a:ext>
            </a:extLst>
          </p:cNvPr>
          <p:cNvSpPr>
            <a:spLocks xmlns:a="http://schemas.openxmlformats.org/drawingml/2006/main" noGrp="1"/>
          </p:cNvSpPr>
          <p:nvPr/>
        </p:nvSpPr>
        <p:spPr>
          <a:xfrm xmlns:a="http://schemas.openxmlformats.org/drawingml/2006/main">
            <a:off x="685800" y="439102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Controlled handover</a:t>
            </a:r>
          </a:p>
        </p:txBody>
      </p:sp>
      <p:sp>
        <p:nvSpPr>
          <p:cNvPr id="7" name="">
            <a:extLst xmlns:a="http://schemas.openxmlformats.org/drawingml/2006/main">
              <a:ext uri="{FF2B5EF4-FFF2-40B4-BE49-F238E27FC236}">
                <a16:creationId xmlns:a16="http://schemas.microsoft.com/office/drawing/2014/main" id="{76F7E672-AD22-4BFC-B637-91782E28C169}"/>
              </a:ext>
            </a:extLst>
          </p:cNvPr>
          <p:cNvSpPr>
            <a:spLocks xmlns:a="http://schemas.openxmlformats.org/drawingml/2006/main" noGrp="1"/>
          </p:cNvSpPr>
          <p:nvPr/>
        </p:nvSpPr>
        <p:spPr>
          <a:xfrm xmlns:a="http://schemas.openxmlformats.org/drawingml/2006/main">
            <a:off x="685800" y="4791075"/>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Approval and counter issue connect a request to the actual unit.</a:t>
            </a:r>
          </a:p>
        </p:txBody>
      </p:sp>
      <p:sp>
        <p:nvSpPr>
          <p:cNvPr id="8" name="">
            <a:extLst xmlns:a="http://schemas.openxmlformats.org/drawingml/2006/main">
              <a:ext uri="{FF2B5EF4-FFF2-40B4-BE49-F238E27FC236}">
                <a16:creationId xmlns:a16="http://schemas.microsoft.com/office/drawing/2014/main" id="{CBDC2DF8-3F9C-470A-930B-D9B786CF1C60}"/>
              </a:ext>
            </a:extLst>
          </p:cNvPr>
          <p:cNvSpPr>
            <a:spLocks xmlns:a="http://schemas.openxmlformats.org/drawingml/2006/main" noGrp="1"/>
          </p:cNvSpPr>
          <p:nvPr/>
        </p:nvSpPr>
        <p:spPr>
          <a:xfrm xmlns:a="http://schemas.openxmlformats.org/drawingml/2006/main">
            <a:off x="685800" y="52578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Visibility</a:t>
            </a:r>
          </a:p>
        </p:txBody>
      </p:sp>
      <p:sp>
        <p:nvSpPr>
          <p:cNvPr id="9" name="">
            <a:extLst xmlns:a="http://schemas.openxmlformats.org/drawingml/2006/main">
              <a:ext uri="{FF2B5EF4-FFF2-40B4-BE49-F238E27FC236}">
                <a16:creationId xmlns:a16="http://schemas.microsoft.com/office/drawing/2014/main" id="{EA930137-D9DA-4A4E-BEA3-AAC3C1A6AD64}"/>
              </a:ext>
            </a:extLst>
          </p:cNvPr>
          <p:cNvSpPr>
            <a:spLocks xmlns:a="http://schemas.openxmlformats.org/drawingml/2006/main" noGrp="1"/>
          </p:cNvSpPr>
          <p:nvPr/>
        </p:nvSpPr>
        <p:spPr>
          <a:xfrm xmlns:a="http://schemas.openxmlformats.org/drawingml/2006/main">
            <a:off x="685800" y="56578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Status, notifications and reports show what happens after issue.</a:t>
            </a:r>
          </a:p>
        </p:txBody>
      </p:sp>
    </p:spTree>
    <p:extLst>
      <p:ext uri="{BB962C8B-B14F-4D97-AF65-F5344CB8AC3E}">
        <p14:creationId xmlns:p14="http://schemas.microsoft.com/office/powerpoint/2010/main" val="1408392177"/>
      </p:ext>
    </p:extLst>
  </p:cSld>
</p:sld>
</file>

<file path=ppt/slides/slide4.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CF2659B-4DE8-484E-AF7D-93F6B9086754}"/>
              </a:ext>
            </a:extLst>
          </p:cNvPr>
          <p:cNvSpPr>
            <a:spLocks xmlns:a="http://schemas.openxmlformats.org/drawingml/2006/main" noGrp="1"/>
          </p:cNvSpPr>
          <p:nvPr/>
        </p:nvSpPr>
        <p:spPr>
          <a:xfrm xmlns:a="http://schemas.openxmlformats.org/drawingml/2006/main">
            <a:off x="685800" y="495300"/>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82B46"/>
                </a:solidFill>
                <a:latin typeface="Arial"/>
                <a:ea typeface="Arial"/>
                <a:cs typeface="Arial"/>
              </a:defRPr>
            </a:pPr>
            <a:r>
              <a:rPr sz="3450" b="1">
                <a:solidFill>
                  <a:srgbClr val="182B46"/>
                </a:solidFill>
                <a:latin typeface="Arial"/>
                <a:ea typeface="Arial"/>
                <a:cs typeface="Arial"/>
              </a:rPr>
              <a:t>Four roles, distinct responsibilities</a:t>
            </a:r>
          </a:p>
        </p:txBody>
      </p:sp>
      <p:sp>
        <p:nvSpPr>
          <p:cNvPr id="2" name="">
            <a:extLst xmlns:a="http://schemas.openxmlformats.org/drawingml/2006/main">
              <a:ext uri="{FF2B5EF4-FFF2-40B4-BE49-F238E27FC236}">
                <a16:creationId xmlns:a16="http://schemas.microsoft.com/office/drawing/2014/main" id="{31FE0670-1D7F-442E-A4B2-948E1AEE8F03}"/>
              </a:ext>
            </a:extLst>
          </p:cNvPr>
          <p:cNvSpPr>
            <a:spLocks xmlns:a="http://schemas.openxmlformats.org/drawingml/2006/main" noGrp="1"/>
          </p:cNvSpPr>
          <p:nvPr/>
        </p:nvSpPr>
        <p:spPr>
          <a:xfrm xmlns:a="http://schemas.openxmlformats.org/drawingml/2006/main">
            <a:off x="11144250" y="63055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47B"/>
                </a:solidFill>
                <a:latin typeface="Arial"/>
                <a:ea typeface="Arial"/>
                <a:cs typeface="Arial"/>
              </a:defRPr>
            </a:pPr>
            <a:r>
              <a:rPr sz="1350" b="0">
                <a:solidFill>
                  <a:srgbClr val="52647B"/>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018786E5-3E4F-4275-80AD-D5BCB9DAB333}"/>
              </a:ext>
            </a:extLst>
          </p:cNvPr>
          <p:cNvSpPr>
            <a:spLocks xmlns:a="http://schemas.openxmlformats.org/drawingml/2006/main" noGrp="1"/>
          </p:cNvSpPr>
          <p:nvPr/>
        </p:nvSpPr>
        <p:spPr>
          <a:xfrm xmlns:a="http://schemas.openxmlformats.org/drawingml/2006/main">
            <a:off x="685800" y="1762125"/>
            <a:ext cx="4933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Administrator</a:t>
            </a:r>
          </a:p>
        </p:txBody>
      </p:sp>
      <p:sp>
        <p:nvSpPr>
          <p:cNvPr id="4" name="">
            <a:extLst xmlns:a="http://schemas.openxmlformats.org/drawingml/2006/main">
              <a:ext uri="{FF2B5EF4-FFF2-40B4-BE49-F238E27FC236}">
                <a16:creationId xmlns:a16="http://schemas.microsoft.com/office/drawing/2014/main" id="{6DA80BD3-E1B5-4AD1-B64D-E963984C2874}"/>
              </a:ext>
            </a:extLst>
          </p:cNvPr>
          <p:cNvSpPr>
            <a:spLocks xmlns:a="http://schemas.openxmlformats.org/drawingml/2006/main" noGrp="1"/>
          </p:cNvSpPr>
          <p:nvPr/>
        </p:nvSpPr>
        <p:spPr>
          <a:xfrm xmlns:a="http://schemas.openxmlformats.org/drawingml/2006/main">
            <a:off x="685800" y="2162175"/>
            <a:ext cx="49339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Manages departments, labs, inventory, accounts and reports.</a:t>
            </a:r>
          </a:p>
        </p:txBody>
      </p:sp>
      <p:sp>
        <p:nvSpPr>
          <p:cNvPr id="5" name="">
            <a:extLst xmlns:a="http://schemas.openxmlformats.org/drawingml/2006/main">
              <a:ext uri="{FF2B5EF4-FFF2-40B4-BE49-F238E27FC236}">
                <a16:creationId xmlns:a16="http://schemas.microsoft.com/office/drawing/2014/main" id="{08E35887-9412-42E3-B9B9-70A8B59EA223}"/>
              </a:ext>
            </a:extLst>
          </p:cNvPr>
          <p:cNvSpPr>
            <a:spLocks xmlns:a="http://schemas.openxmlformats.org/drawingml/2006/main" noGrp="1"/>
          </p:cNvSpPr>
          <p:nvPr/>
        </p:nvSpPr>
        <p:spPr>
          <a:xfrm xmlns:a="http://schemas.openxmlformats.org/drawingml/2006/main">
            <a:off x="685800" y="3143250"/>
            <a:ext cx="4933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Lab assistant</a:t>
            </a:r>
          </a:p>
        </p:txBody>
      </p:sp>
      <p:sp>
        <p:nvSpPr>
          <p:cNvPr id="6" name="">
            <a:extLst xmlns:a="http://schemas.openxmlformats.org/drawingml/2006/main">
              <a:ext uri="{FF2B5EF4-FFF2-40B4-BE49-F238E27FC236}">
                <a16:creationId xmlns:a16="http://schemas.microsoft.com/office/drawing/2014/main" id="{12781A4C-2A58-4907-A84E-8624D05C7D17}"/>
              </a:ext>
            </a:extLst>
          </p:cNvPr>
          <p:cNvSpPr>
            <a:spLocks xmlns:a="http://schemas.openxmlformats.org/drawingml/2006/main" noGrp="1"/>
          </p:cNvSpPr>
          <p:nvPr/>
        </p:nvSpPr>
        <p:spPr>
          <a:xfrm xmlns:a="http://schemas.openxmlformats.org/drawingml/2006/main">
            <a:off x="685800" y="3543300"/>
            <a:ext cx="49339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Reviews assigned-lab requests and handles equipment issue and return.</a:t>
            </a:r>
          </a:p>
        </p:txBody>
      </p:sp>
      <p:sp>
        <p:nvSpPr>
          <p:cNvPr id="7" name="">
            <a:extLst xmlns:a="http://schemas.openxmlformats.org/drawingml/2006/main">
              <a:ext uri="{FF2B5EF4-FFF2-40B4-BE49-F238E27FC236}">
                <a16:creationId xmlns:a16="http://schemas.microsoft.com/office/drawing/2014/main" id="{7EED894C-5108-4CAC-97A5-16FB256B2855}"/>
              </a:ext>
            </a:extLst>
          </p:cNvPr>
          <p:cNvSpPr>
            <a:spLocks xmlns:a="http://schemas.openxmlformats.org/drawingml/2006/main" noGrp="1"/>
          </p:cNvSpPr>
          <p:nvPr/>
        </p:nvSpPr>
        <p:spPr>
          <a:xfrm xmlns:a="http://schemas.openxmlformats.org/drawingml/2006/main">
            <a:off x="6515100" y="1762125"/>
            <a:ext cx="4991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Faculty</a:t>
            </a:r>
          </a:p>
        </p:txBody>
      </p:sp>
      <p:sp>
        <p:nvSpPr>
          <p:cNvPr id="8" name="">
            <a:extLst xmlns:a="http://schemas.openxmlformats.org/drawingml/2006/main">
              <a:ext uri="{FF2B5EF4-FFF2-40B4-BE49-F238E27FC236}">
                <a16:creationId xmlns:a16="http://schemas.microsoft.com/office/drawing/2014/main" id="{EA2173A9-982E-4646-B492-A20BFD854155}"/>
              </a:ext>
            </a:extLst>
          </p:cNvPr>
          <p:cNvSpPr>
            <a:spLocks xmlns:a="http://schemas.openxmlformats.org/drawingml/2006/main" noGrp="1"/>
          </p:cNvSpPr>
          <p:nvPr/>
        </p:nvSpPr>
        <p:spPr>
          <a:xfrm xmlns:a="http://schemas.openxmlformats.org/drawingml/2006/main">
            <a:off x="6515100" y="2162175"/>
            <a:ext cx="4991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Borrows equipment and coordinates event or club requests.</a:t>
            </a:r>
          </a:p>
        </p:txBody>
      </p:sp>
      <p:sp>
        <p:nvSpPr>
          <p:cNvPr id="9" name="">
            <a:extLst xmlns:a="http://schemas.openxmlformats.org/drawingml/2006/main">
              <a:ext uri="{FF2B5EF4-FFF2-40B4-BE49-F238E27FC236}">
                <a16:creationId xmlns:a16="http://schemas.microsoft.com/office/drawing/2014/main" id="{B62527C5-C3B9-4EC6-98D7-0EDA347BAE27}"/>
              </a:ext>
            </a:extLst>
          </p:cNvPr>
          <p:cNvSpPr>
            <a:spLocks xmlns:a="http://schemas.openxmlformats.org/drawingml/2006/main" noGrp="1"/>
          </p:cNvSpPr>
          <p:nvPr/>
        </p:nvSpPr>
        <p:spPr>
          <a:xfrm xmlns:a="http://schemas.openxmlformats.org/drawingml/2006/main">
            <a:off x="6515100" y="3143250"/>
            <a:ext cx="4991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Student</a:t>
            </a:r>
          </a:p>
        </p:txBody>
      </p:sp>
      <p:sp>
        <p:nvSpPr>
          <p:cNvPr id="10" name="">
            <a:extLst xmlns:a="http://schemas.openxmlformats.org/drawingml/2006/main">
              <a:ext uri="{FF2B5EF4-FFF2-40B4-BE49-F238E27FC236}">
                <a16:creationId xmlns:a16="http://schemas.microsoft.com/office/drawing/2014/main" id="{A95BABD6-9746-4EDE-A593-A8FCD1CB8E7A}"/>
              </a:ext>
            </a:extLst>
          </p:cNvPr>
          <p:cNvSpPr>
            <a:spLocks xmlns:a="http://schemas.openxmlformats.org/drawingml/2006/main" noGrp="1"/>
          </p:cNvSpPr>
          <p:nvPr/>
        </p:nvSpPr>
        <p:spPr>
          <a:xfrm xmlns:a="http://schemas.openxmlformats.org/drawingml/2006/main">
            <a:off x="6515100" y="3543300"/>
            <a:ext cx="4991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Browses equipment, submits requests and tracks personal loans.</a:t>
            </a:r>
          </a:p>
        </p:txBody>
      </p:sp>
    </p:spTree>
    <p:extLst>
      <p:ext uri="{BB962C8B-B14F-4D97-AF65-F5344CB8AC3E}">
        <p14:creationId xmlns:p14="http://schemas.microsoft.com/office/powerpoint/2010/main" val="151050476"/>
      </p:ext>
    </p:extLst>
  </p:cSld>
</p:sld>
</file>

<file path=ppt/slides/slide5.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C830140-45EF-4B02-AEE6-18A170B4CE95}"/>
              </a:ext>
            </a:extLst>
          </p:cNvPr>
          <p:cNvSpPr>
            <a:spLocks xmlns:a="http://schemas.openxmlformats.org/drawingml/2006/main" noGrp="1"/>
          </p:cNvSpPr>
          <p:nvPr/>
        </p:nvSpPr>
        <p:spPr>
          <a:xfrm xmlns:a="http://schemas.openxmlformats.org/drawingml/2006/main">
            <a:off x="685800" y="495300"/>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82B46"/>
                </a:solidFill>
                <a:latin typeface="Arial"/>
                <a:ea typeface="Arial"/>
                <a:cs typeface="Arial"/>
              </a:defRPr>
            </a:pPr>
            <a:r>
              <a:rPr sz="3450" b="1">
                <a:solidFill>
                  <a:srgbClr val="182B46"/>
                </a:solidFill>
                <a:latin typeface="Arial"/>
                <a:ea typeface="Arial"/>
                <a:cs typeface="Arial"/>
              </a:rPr>
              <a:t>Equipment models and individual units</a:t>
            </a:r>
          </a:p>
        </p:txBody>
      </p:sp>
      <p:sp>
        <p:nvSpPr>
          <p:cNvPr id="2" name="">
            <a:extLst xmlns:a="http://schemas.openxmlformats.org/drawingml/2006/main">
              <a:ext uri="{FF2B5EF4-FFF2-40B4-BE49-F238E27FC236}">
                <a16:creationId xmlns:a16="http://schemas.microsoft.com/office/drawing/2014/main" id="{ABB4D61C-AA0A-4435-84E3-9007C60588B4}"/>
              </a:ext>
            </a:extLst>
          </p:cNvPr>
          <p:cNvSpPr>
            <a:spLocks xmlns:a="http://schemas.openxmlformats.org/drawingml/2006/main" noGrp="1"/>
          </p:cNvSpPr>
          <p:nvPr/>
        </p:nvSpPr>
        <p:spPr>
          <a:xfrm xmlns:a="http://schemas.openxmlformats.org/drawingml/2006/main">
            <a:off x="11144250" y="63055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47B"/>
                </a:solidFill>
                <a:latin typeface="Arial"/>
                <a:ea typeface="Arial"/>
                <a:cs typeface="Arial"/>
              </a:defRPr>
            </a:pPr>
            <a:r>
              <a:rPr sz="1350" b="0">
                <a:solidFill>
                  <a:srgbClr val="52647B"/>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D6634810-7096-4529-8A00-75B35BAB7D7B}"/>
              </a:ext>
            </a:extLst>
          </p:cNvPr>
          <p:cNvSpPr>
            <a:spLocks xmlns:a="http://schemas.openxmlformats.org/drawingml/2006/main" noGrp="1"/>
          </p:cNvSpPr>
          <p:nvPr/>
        </p:nvSpPr>
        <p:spPr>
          <a:xfrm xmlns:a="http://schemas.openxmlformats.org/drawingml/2006/main">
            <a:off x="685800" y="1762125"/>
            <a:ext cx="4933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Equipment model</a:t>
            </a:r>
          </a:p>
        </p:txBody>
      </p:sp>
      <p:sp>
        <p:nvSpPr>
          <p:cNvPr id="4" name="">
            <a:extLst xmlns:a="http://schemas.openxmlformats.org/drawingml/2006/main">
              <a:ext uri="{FF2B5EF4-FFF2-40B4-BE49-F238E27FC236}">
                <a16:creationId xmlns:a16="http://schemas.microsoft.com/office/drawing/2014/main" id="{47DCD6F5-2021-4900-980B-D68C1775C6F4}"/>
              </a:ext>
            </a:extLst>
          </p:cNvPr>
          <p:cNvSpPr>
            <a:spLocks xmlns:a="http://schemas.openxmlformats.org/drawingml/2006/main" noGrp="1"/>
          </p:cNvSpPr>
          <p:nvPr/>
        </p:nvSpPr>
        <p:spPr>
          <a:xfrm xmlns:a="http://schemas.openxmlformats.org/drawingml/2006/main">
            <a:off x="685800" y="2162175"/>
            <a:ext cx="49339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Describes a type of equipment, its category and associated lab.</a:t>
            </a:r>
          </a:p>
        </p:txBody>
      </p:sp>
      <p:sp>
        <p:nvSpPr>
          <p:cNvPr id="5" name="">
            <a:extLst xmlns:a="http://schemas.openxmlformats.org/drawingml/2006/main">
              <a:ext uri="{FF2B5EF4-FFF2-40B4-BE49-F238E27FC236}">
                <a16:creationId xmlns:a16="http://schemas.microsoft.com/office/drawing/2014/main" id="{85444A28-511A-4EA4-8FCE-4DDEDB858AC4}"/>
              </a:ext>
            </a:extLst>
          </p:cNvPr>
          <p:cNvSpPr>
            <a:spLocks xmlns:a="http://schemas.openxmlformats.org/drawingml/2006/main" noGrp="1"/>
          </p:cNvSpPr>
          <p:nvPr/>
        </p:nvSpPr>
        <p:spPr>
          <a:xfrm xmlns:a="http://schemas.openxmlformats.org/drawingml/2006/main">
            <a:off x="685800" y="3143250"/>
            <a:ext cx="4933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Physical unit</a:t>
            </a:r>
          </a:p>
        </p:txBody>
      </p:sp>
      <p:sp>
        <p:nvSpPr>
          <p:cNvPr id="6" name="">
            <a:extLst xmlns:a="http://schemas.openxmlformats.org/drawingml/2006/main">
              <a:ext uri="{FF2B5EF4-FFF2-40B4-BE49-F238E27FC236}">
                <a16:creationId xmlns:a16="http://schemas.microsoft.com/office/drawing/2014/main" id="{DB1F96C8-FE40-4D7B-8E1B-34D823AB8467}"/>
              </a:ext>
            </a:extLst>
          </p:cNvPr>
          <p:cNvSpPr>
            <a:spLocks xmlns:a="http://schemas.openxmlformats.org/drawingml/2006/main" noGrp="1"/>
          </p:cNvSpPr>
          <p:nvPr/>
        </p:nvSpPr>
        <p:spPr>
          <a:xfrm xmlns:a="http://schemas.openxmlformats.org/drawingml/2006/main">
            <a:off x="685800" y="3543300"/>
            <a:ext cx="49339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Stores its asset ID, serial number, current lab, condition and status.</a:t>
            </a:r>
          </a:p>
        </p:txBody>
      </p:sp>
      <p:sp>
        <p:nvSpPr>
          <p:cNvPr id="7" name="">
            <a:extLst xmlns:a="http://schemas.openxmlformats.org/drawingml/2006/main">
              <a:ext uri="{FF2B5EF4-FFF2-40B4-BE49-F238E27FC236}">
                <a16:creationId xmlns:a16="http://schemas.microsoft.com/office/drawing/2014/main" id="{2B826717-AC10-4FDC-AF2A-C9980FD33B12}"/>
              </a:ext>
            </a:extLst>
          </p:cNvPr>
          <p:cNvSpPr>
            <a:spLocks xmlns:a="http://schemas.openxmlformats.org/drawingml/2006/main" noGrp="1"/>
          </p:cNvSpPr>
          <p:nvPr/>
        </p:nvSpPr>
        <p:spPr>
          <a:xfrm xmlns:a="http://schemas.openxmlformats.org/drawingml/2006/main">
            <a:off x="6515100" y="1762125"/>
            <a:ext cx="4991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Illustrative example</a:t>
            </a:r>
          </a:p>
        </p:txBody>
      </p:sp>
      <p:sp>
        <p:nvSpPr>
          <p:cNvPr id="8" name="">
            <a:extLst xmlns:a="http://schemas.openxmlformats.org/drawingml/2006/main">
              <a:ext uri="{FF2B5EF4-FFF2-40B4-BE49-F238E27FC236}">
                <a16:creationId xmlns:a16="http://schemas.microsoft.com/office/drawing/2014/main" id="{6DF655D3-0228-41CB-B508-62B8FE8189B3}"/>
              </a:ext>
            </a:extLst>
          </p:cNvPr>
          <p:cNvSpPr>
            <a:spLocks xmlns:a="http://schemas.openxmlformats.org/drawingml/2006/main" noGrp="1"/>
          </p:cNvSpPr>
          <p:nvPr/>
        </p:nvSpPr>
        <p:spPr>
          <a:xfrm xmlns:a="http://schemas.openxmlformats.org/drawingml/2006/main">
            <a:off x="6515100" y="2162175"/>
            <a:ext cx="4991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Arduino Uno model</a:t>
            </a:r>
          </a:p>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Unit 1, Unit 2 and Unit 3 each carry a distinct asset tag.</a:t>
            </a:r>
          </a:p>
        </p:txBody>
      </p:sp>
      <p:sp>
        <p:nvSpPr>
          <p:cNvPr id="9" name="">
            <a:extLst xmlns:a="http://schemas.openxmlformats.org/drawingml/2006/main">
              <a:ext uri="{FF2B5EF4-FFF2-40B4-BE49-F238E27FC236}">
                <a16:creationId xmlns:a16="http://schemas.microsoft.com/office/drawing/2014/main" id="{4B981E2B-168F-46FA-9FFA-539D42A0077B}"/>
              </a:ext>
            </a:extLst>
          </p:cNvPr>
          <p:cNvSpPr>
            <a:spLocks xmlns:a="http://schemas.openxmlformats.org/drawingml/2006/main" noGrp="1"/>
          </p:cNvSpPr>
          <p:nvPr/>
        </p:nvSpPr>
        <p:spPr>
          <a:xfrm xmlns:a="http://schemas.openxmlformats.org/drawingml/2006/main">
            <a:off x="6515100" y="3143250"/>
            <a:ext cx="4991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Operational result</a:t>
            </a:r>
          </a:p>
        </p:txBody>
      </p:sp>
      <p:sp>
        <p:nvSpPr>
          <p:cNvPr id="10" name="">
            <a:extLst xmlns:a="http://schemas.openxmlformats.org/drawingml/2006/main">
              <a:ext uri="{FF2B5EF4-FFF2-40B4-BE49-F238E27FC236}">
                <a16:creationId xmlns:a16="http://schemas.microsoft.com/office/drawing/2014/main" id="{21F9A9CE-98EF-4D0B-98B3-B73B63D5561D}"/>
              </a:ext>
            </a:extLst>
          </p:cNvPr>
          <p:cNvSpPr>
            <a:spLocks xmlns:a="http://schemas.openxmlformats.org/drawingml/2006/main" noGrp="1"/>
          </p:cNvSpPr>
          <p:nvPr/>
        </p:nvSpPr>
        <p:spPr>
          <a:xfrm xmlns:a="http://schemas.openxmlformats.org/drawingml/2006/main">
            <a:off x="6515100" y="3543300"/>
            <a:ext cx="4991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A loan records the exact unit. Other available units can still circulate.</a:t>
            </a:r>
          </a:p>
        </p:txBody>
      </p:sp>
    </p:spTree>
    <p:extLst>
      <p:ext uri="{BB962C8B-B14F-4D97-AF65-F5344CB8AC3E}">
        <p14:creationId xmlns:p14="http://schemas.microsoft.com/office/powerpoint/2010/main" val="592614642"/>
      </p:ext>
    </p:extLst>
  </p:cSld>
</p:sld>
</file>

<file path=ppt/slides/slide6.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0F2F2DD-41B3-414B-A7A6-212E75467B8B}"/>
              </a:ext>
            </a:extLst>
          </p:cNvPr>
          <p:cNvSpPr>
            <a:spLocks xmlns:a="http://schemas.openxmlformats.org/drawingml/2006/main" noGrp="1"/>
          </p:cNvSpPr>
          <p:nvPr/>
        </p:nvSpPr>
        <p:spPr>
          <a:xfrm xmlns:a="http://schemas.openxmlformats.org/drawingml/2006/main">
            <a:off x="685800" y="495300"/>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82B46"/>
                </a:solidFill>
                <a:latin typeface="Arial"/>
                <a:ea typeface="Arial"/>
                <a:cs typeface="Arial"/>
              </a:defRPr>
            </a:pPr>
            <a:r>
              <a:rPr sz="3450" b="1">
                <a:solidFill>
                  <a:srgbClr val="182B46"/>
                </a:solidFill>
                <a:latin typeface="Arial"/>
                <a:ea typeface="Arial"/>
                <a:cs typeface="Arial"/>
              </a:rPr>
              <a:t>Inventory import and QR labels</a:t>
            </a:r>
          </a:p>
        </p:txBody>
      </p:sp>
      <p:sp>
        <p:nvSpPr>
          <p:cNvPr id="2" name="">
            <a:extLst xmlns:a="http://schemas.openxmlformats.org/drawingml/2006/main">
              <a:ext uri="{FF2B5EF4-FFF2-40B4-BE49-F238E27FC236}">
                <a16:creationId xmlns:a16="http://schemas.microsoft.com/office/drawing/2014/main" id="{E8B08296-2A57-4E7A-A740-F0D363E70DE8}"/>
              </a:ext>
            </a:extLst>
          </p:cNvPr>
          <p:cNvSpPr>
            <a:spLocks xmlns:a="http://schemas.openxmlformats.org/drawingml/2006/main" noGrp="1"/>
          </p:cNvSpPr>
          <p:nvPr/>
        </p:nvSpPr>
        <p:spPr>
          <a:xfrm xmlns:a="http://schemas.openxmlformats.org/drawingml/2006/main">
            <a:off x="11144250" y="63055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47B"/>
                </a:solidFill>
                <a:latin typeface="Arial"/>
                <a:ea typeface="Arial"/>
                <a:cs typeface="Arial"/>
              </a:defRPr>
            </a:pPr>
            <a:r>
              <a:rPr sz="1350" b="0">
                <a:solidFill>
                  <a:srgbClr val="52647B"/>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27680AC8-0553-40A6-96CE-E4FC423BEF11}"/>
              </a:ext>
            </a:extLst>
          </p:cNvPr>
          <p:cNvSpPr>
            <a:spLocks xmlns:a="http://schemas.openxmlformats.org/drawingml/2006/main" noGrp="1"/>
          </p:cNvSpPr>
          <p:nvPr/>
        </p:nvSpPr>
        <p:spPr>
          <a:xfrm xmlns:a="http://schemas.openxmlformats.org/drawingml/2006/main">
            <a:off x="685800" y="1762125"/>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Unique identity</a:t>
            </a:r>
          </a:p>
        </p:txBody>
      </p:sp>
      <p:sp>
        <p:nvSpPr>
          <p:cNvPr id="4" name="">
            <a:extLst xmlns:a="http://schemas.openxmlformats.org/drawingml/2006/main">
              <a:ext uri="{FF2B5EF4-FFF2-40B4-BE49-F238E27FC236}">
                <a16:creationId xmlns:a16="http://schemas.microsoft.com/office/drawing/2014/main" id="{828BC95C-E5C8-4E67-9BCB-580AAD835289}"/>
              </a:ext>
            </a:extLst>
          </p:cNvPr>
          <p:cNvSpPr>
            <a:spLocks xmlns:a="http://schemas.openxmlformats.org/drawingml/2006/main" noGrp="1"/>
          </p:cNvSpPr>
          <p:nvPr/>
        </p:nvSpPr>
        <p:spPr>
          <a:xfrm xmlns:a="http://schemas.openxmlformats.org/drawingml/2006/main">
            <a:off x="685800" y="2162175"/>
            <a:ext cx="371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Asset IDs link labels to database units.</a:t>
            </a:r>
          </a:p>
        </p:txBody>
      </p:sp>
      <p:sp>
        <p:nvSpPr>
          <p:cNvPr id="5" name="">
            <a:extLst xmlns:a="http://schemas.openxmlformats.org/drawingml/2006/main">
              <a:ext uri="{FF2B5EF4-FFF2-40B4-BE49-F238E27FC236}">
                <a16:creationId xmlns:a16="http://schemas.microsoft.com/office/drawing/2014/main" id="{D6B750E3-BA0C-46EA-B413-FCFFE0FF3A9B}"/>
              </a:ext>
            </a:extLst>
          </p:cNvPr>
          <p:cNvSpPr>
            <a:spLocks xmlns:a="http://schemas.openxmlformats.org/drawingml/2006/main" noGrp="1"/>
          </p:cNvSpPr>
          <p:nvPr/>
        </p:nvSpPr>
        <p:spPr>
          <a:xfrm xmlns:a="http://schemas.openxmlformats.org/drawingml/2006/main">
            <a:off x="685800" y="3114675"/>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Batch import</a:t>
            </a:r>
          </a:p>
        </p:txBody>
      </p:sp>
      <p:sp>
        <p:nvSpPr>
          <p:cNvPr id="6" name="">
            <a:extLst xmlns:a="http://schemas.openxmlformats.org/drawingml/2006/main">
              <a:ext uri="{FF2B5EF4-FFF2-40B4-BE49-F238E27FC236}">
                <a16:creationId xmlns:a16="http://schemas.microsoft.com/office/drawing/2014/main" id="{80E66FE7-AB93-4E5D-B923-BA47E9FE5E24}"/>
              </a:ext>
            </a:extLst>
          </p:cNvPr>
          <p:cNvSpPr>
            <a:spLocks xmlns:a="http://schemas.openxmlformats.org/drawingml/2006/main" noGrp="1"/>
          </p:cNvSpPr>
          <p:nvPr/>
        </p:nvSpPr>
        <p:spPr>
          <a:xfrm xmlns:a="http://schemas.openxmlformats.org/drawingml/2006/main">
            <a:off x="685800" y="3514725"/>
            <a:ext cx="371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Spreadsheet uploads add inventory in bulk.</a:t>
            </a:r>
          </a:p>
        </p:txBody>
      </p:sp>
      <p:sp>
        <p:nvSpPr>
          <p:cNvPr id="7" name="">
            <a:extLst xmlns:a="http://schemas.openxmlformats.org/drawingml/2006/main">
              <a:ext uri="{FF2B5EF4-FFF2-40B4-BE49-F238E27FC236}">
                <a16:creationId xmlns:a16="http://schemas.microsoft.com/office/drawing/2014/main" id="{E291741E-6F92-4CB3-9A90-00D9B96A332D}"/>
              </a:ext>
            </a:extLst>
          </p:cNvPr>
          <p:cNvSpPr>
            <a:spLocks xmlns:a="http://schemas.openxmlformats.org/drawingml/2006/main" noGrp="1"/>
          </p:cNvSpPr>
          <p:nvPr/>
        </p:nvSpPr>
        <p:spPr>
          <a:xfrm xmlns:a="http://schemas.openxmlformats.org/drawingml/2006/main">
            <a:off x="685800" y="4467225"/>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Replay protection</a:t>
            </a:r>
          </a:p>
        </p:txBody>
      </p:sp>
      <p:sp>
        <p:nvSpPr>
          <p:cNvPr id="8" name="">
            <a:extLst xmlns:a="http://schemas.openxmlformats.org/drawingml/2006/main">
              <a:ext uri="{FF2B5EF4-FFF2-40B4-BE49-F238E27FC236}">
                <a16:creationId xmlns:a16="http://schemas.microsoft.com/office/drawing/2014/main" id="{C5722D1E-3B6E-4DB8-8DF8-099D6F8C837F}"/>
              </a:ext>
            </a:extLst>
          </p:cNvPr>
          <p:cNvSpPr>
            <a:spLocks xmlns:a="http://schemas.openxmlformats.org/drawingml/2006/main" noGrp="1"/>
          </p:cNvSpPr>
          <p:nvPr/>
        </p:nvSpPr>
        <p:spPr>
          <a:xfrm xmlns:a="http://schemas.openxmlformats.org/drawingml/2006/main">
            <a:off x="685800" y="4867275"/>
            <a:ext cx="371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A repeated batch returns its existing result.</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27a268d673944dda"/>
          <a:stretch xmlns:a="http://schemas.openxmlformats.org/drawingml/2006/main"/>
        </p:blipFill>
        <p:spPr>
          <a:xfrm xmlns:a="http://schemas.openxmlformats.org/drawingml/2006/main">
            <a:off x="4857750" y="1903750"/>
            <a:ext cx="6648450" cy="3488649"/>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FD2EEE90-9F1A-4804-A6F3-358610305417}"/>
              </a:ext>
            </a:extLst>
          </p:cNvPr>
          <p:cNvSpPr>
            <a:spLocks xmlns:a="http://schemas.openxmlformats.org/drawingml/2006/main" noGrp="1"/>
          </p:cNvSpPr>
          <p:nvPr/>
        </p:nvSpPr>
        <p:spPr>
          <a:xfrm xmlns:a="http://schemas.openxmlformats.org/drawingml/2006/main">
            <a:off x="4857750" y="5667375"/>
            <a:ext cx="66484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b="0">
                <a:solidFill>
                  <a:srgbClr val="52647B"/>
                </a:solidFill>
                <a:latin typeface="Arial"/>
                <a:ea typeface="Arial"/>
                <a:cs typeface="Arial"/>
              </a:defRPr>
            </a:pPr>
            <a:r>
              <a:rPr sz="1575" b="0">
                <a:solidFill>
                  <a:srgbClr val="52647B"/>
                </a:solidFill>
                <a:latin typeface="Arial"/>
                <a:ea typeface="Arial"/>
                <a:cs typeface="Arial"/>
              </a:rPr>
              <a:t>Project verification screenshot: QR labels and duplicate-upload protection</a:t>
            </a:r>
          </a:p>
        </p:txBody>
      </p:sp>
    </p:spTree>
    <p:extLst>
      <p:ext uri="{BB962C8B-B14F-4D97-AF65-F5344CB8AC3E}">
        <p14:creationId xmlns:p14="http://schemas.microsoft.com/office/powerpoint/2010/main" val="244774473"/>
      </p:ext>
    </p:extLst>
  </p:cSld>
</p:sld>
</file>

<file path=ppt/slides/slide7.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922C0C4-3BE9-4C91-A9A8-4BA9936314FE}"/>
              </a:ext>
            </a:extLst>
          </p:cNvPr>
          <p:cNvSpPr>
            <a:spLocks xmlns:a="http://schemas.openxmlformats.org/drawingml/2006/main" noGrp="1"/>
          </p:cNvSpPr>
          <p:nvPr/>
        </p:nvSpPr>
        <p:spPr>
          <a:xfrm xmlns:a="http://schemas.openxmlformats.org/drawingml/2006/main">
            <a:off x="685800" y="495300"/>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82B46"/>
                </a:solidFill>
                <a:latin typeface="Arial"/>
                <a:ea typeface="Arial"/>
                <a:cs typeface="Arial"/>
              </a:defRPr>
            </a:pPr>
            <a:r>
              <a:rPr sz="3450" b="1">
                <a:solidFill>
                  <a:srgbClr val="182B46"/>
                </a:solidFill>
                <a:latin typeface="Arial"/>
                <a:ea typeface="Arial"/>
                <a:cs typeface="Arial"/>
              </a:rPr>
              <a:t>Standard borrowing workflow</a:t>
            </a:r>
          </a:p>
        </p:txBody>
      </p:sp>
      <p:sp>
        <p:nvSpPr>
          <p:cNvPr id="2" name="">
            <a:extLst xmlns:a="http://schemas.openxmlformats.org/drawingml/2006/main">
              <a:ext uri="{FF2B5EF4-FFF2-40B4-BE49-F238E27FC236}">
                <a16:creationId xmlns:a16="http://schemas.microsoft.com/office/drawing/2014/main" id="{16EADE63-04A6-4DC0-94E7-2C467FEA2B60}"/>
              </a:ext>
            </a:extLst>
          </p:cNvPr>
          <p:cNvSpPr>
            <a:spLocks xmlns:a="http://schemas.openxmlformats.org/drawingml/2006/main" noGrp="1"/>
          </p:cNvSpPr>
          <p:nvPr/>
        </p:nvSpPr>
        <p:spPr>
          <a:xfrm xmlns:a="http://schemas.openxmlformats.org/drawingml/2006/main">
            <a:off x="11144250" y="63055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47B"/>
                </a:solidFill>
                <a:latin typeface="Arial"/>
                <a:ea typeface="Arial"/>
                <a:cs typeface="Arial"/>
              </a:defRPr>
            </a:pPr>
            <a:r>
              <a:rPr sz="1350" b="0">
                <a:solidFill>
                  <a:srgbClr val="52647B"/>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F7EE5AE9-3E83-4B71-BEBB-C25614CA0A6F}"/>
              </a:ext>
            </a:extLst>
          </p:cNvPr>
          <p:cNvSpPr>
            <a:spLocks xmlns:a="http://schemas.openxmlformats.org/drawingml/2006/main" noGrp="1"/>
          </p:cNvSpPr>
          <p:nvPr/>
        </p:nvSpPr>
        <p:spPr>
          <a:xfrm xmlns:a="http://schemas.openxmlformats.org/drawingml/2006/main">
            <a:off x="685800" y="176212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01  Request</a:t>
            </a:r>
          </a:p>
        </p:txBody>
      </p:sp>
      <p:sp>
        <p:nvSpPr>
          <p:cNvPr id="4" name="">
            <a:extLst xmlns:a="http://schemas.openxmlformats.org/drawingml/2006/main">
              <a:ext uri="{FF2B5EF4-FFF2-40B4-BE49-F238E27FC236}">
                <a16:creationId xmlns:a16="http://schemas.microsoft.com/office/drawing/2014/main" id="{10BFD19E-06A8-45DD-861D-7F6BC41C15D4}"/>
              </a:ext>
            </a:extLst>
          </p:cNvPr>
          <p:cNvSpPr>
            <a:spLocks xmlns:a="http://schemas.openxmlformats.org/drawingml/2006/main" noGrp="1"/>
          </p:cNvSpPr>
          <p:nvPr/>
        </p:nvSpPr>
        <p:spPr>
          <a:xfrm xmlns:a="http://schemas.openxmlformats.org/drawingml/2006/main">
            <a:off x="685800" y="2162175"/>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Borrower selects equipment, quantity, purpose and required dates.</a:t>
            </a:r>
          </a:p>
        </p:txBody>
      </p:sp>
      <p:sp>
        <p:nvSpPr>
          <p:cNvPr id="5" name="">
            <a:extLst xmlns:a="http://schemas.openxmlformats.org/drawingml/2006/main">
              <a:ext uri="{FF2B5EF4-FFF2-40B4-BE49-F238E27FC236}">
                <a16:creationId xmlns:a16="http://schemas.microsoft.com/office/drawing/2014/main" id="{2888874F-6DA5-4E3D-B8C3-39C21561873C}"/>
              </a:ext>
            </a:extLst>
          </p:cNvPr>
          <p:cNvSpPr>
            <a:spLocks xmlns:a="http://schemas.openxmlformats.org/drawingml/2006/main" noGrp="1"/>
          </p:cNvSpPr>
          <p:nvPr/>
        </p:nvSpPr>
        <p:spPr>
          <a:xfrm xmlns:a="http://schemas.openxmlformats.org/drawingml/2006/main">
            <a:off x="685800" y="28194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02  Review</a:t>
            </a:r>
          </a:p>
        </p:txBody>
      </p:sp>
      <p:sp>
        <p:nvSpPr>
          <p:cNvPr id="6" name="">
            <a:extLst xmlns:a="http://schemas.openxmlformats.org/drawingml/2006/main">
              <a:ext uri="{FF2B5EF4-FFF2-40B4-BE49-F238E27FC236}">
                <a16:creationId xmlns:a16="http://schemas.microsoft.com/office/drawing/2014/main" id="{F3B976E9-1550-4624-9DCF-99D303175BD3}"/>
              </a:ext>
            </a:extLst>
          </p:cNvPr>
          <p:cNvSpPr>
            <a:spLocks xmlns:a="http://schemas.openxmlformats.org/drawingml/2006/main" noGrp="1"/>
          </p:cNvSpPr>
          <p:nvPr/>
        </p:nvSpPr>
        <p:spPr>
          <a:xfrm xmlns:a="http://schemas.openxmlformats.org/drawingml/2006/main">
            <a:off x="685800" y="32194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Authorized staff approve or reject the request.</a:t>
            </a:r>
          </a:p>
        </p:txBody>
      </p:sp>
      <p:sp>
        <p:nvSpPr>
          <p:cNvPr id="7" name="">
            <a:extLst xmlns:a="http://schemas.openxmlformats.org/drawingml/2006/main">
              <a:ext uri="{FF2B5EF4-FFF2-40B4-BE49-F238E27FC236}">
                <a16:creationId xmlns:a16="http://schemas.microsoft.com/office/drawing/2014/main" id="{53FDC814-7297-4D60-B027-0D2E656C61D2}"/>
              </a:ext>
            </a:extLst>
          </p:cNvPr>
          <p:cNvSpPr>
            <a:spLocks xmlns:a="http://schemas.openxmlformats.org/drawingml/2006/main" noGrp="1"/>
          </p:cNvSpPr>
          <p:nvPr/>
        </p:nvSpPr>
        <p:spPr>
          <a:xfrm xmlns:a="http://schemas.openxmlformats.org/drawingml/2006/main">
            <a:off x="685800" y="38766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03  Counter issue</a:t>
            </a:r>
          </a:p>
        </p:txBody>
      </p:sp>
      <p:sp>
        <p:nvSpPr>
          <p:cNvPr id="8" name="">
            <a:extLst xmlns:a="http://schemas.openxmlformats.org/drawingml/2006/main">
              <a:ext uri="{FF2B5EF4-FFF2-40B4-BE49-F238E27FC236}">
                <a16:creationId xmlns:a16="http://schemas.microsoft.com/office/drawing/2014/main" id="{190DA02B-24FB-41DD-B6B5-A0613AD3B4D7}"/>
              </a:ext>
            </a:extLst>
          </p:cNvPr>
          <p:cNvSpPr>
            <a:spLocks xmlns:a="http://schemas.openxmlformats.org/drawingml/2006/main" noGrp="1"/>
          </p:cNvSpPr>
          <p:nvPr/>
        </p:nvSpPr>
        <p:spPr>
          <a:xfrm xmlns:a="http://schemas.openxmlformats.org/drawingml/2006/main">
            <a:off x="685800" y="4276725"/>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Assistant identifies the borrower and assigns an available physical unit.</a:t>
            </a:r>
          </a:p>
        </p:txBody>
      </p:sp>
      <p:sp>
        <p:nvSpPr>
          <p:cNvPr id="9" name="">
            <a:extLst xmlns:a="http://schemas.openxmlformats.org/drawingml/2006/main">
              <a:ext uri="{FF2B5EF4-FFF2-40B4-BE49-F238E27FC236}">
                <a16:creationId xmlns:a16="http://schemas.microsoft.com/office/drawing/2014/main" id="{60F69396-FFB7-4BCA-8B5E-5B8C9BD36BFA}"/>
              </a:ext>
            </a:extLst>
          </p:cNvPr>
          <p:cNvSpPr>
            <a:spLocks xmlns:a="http://schemas.openxmlformats.org/drawingml/2006/main" noGrp="1"/>
          </p:cNvSpPr>
          <p:nvPr/>
        </p:nvSpPr>
        <p:spPr>
          <a:xfrm xmlns:a="http://schemas.openxmlformats.org/drawingml/2006/main">
            <a:off x="685800" y="493395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04  Return</a:t>
            </a:r>
          </a:p>
        </p:txBody>
      </p:sp>
      <p:sp>
        <p:nvSpPr>
          <p:cNvPr id="10" name="">
            <a:extLst xmlns:a="http://schemas.openxmlformats.org/drawingml/2006/main">
              <a:ext uri="{FF2B5EF4-FFF2-40B4-BE49-F238E27FC236}">
                <a16:creationId xmlns:a16="http://schemas.microsoft.com/office/drawing/2014/main" id="{2E27BF7D-4531-443D-A97E-AEE221B9C027}"/>
              </a:ext>
            </a:extLst>
          </p:cNvPr>
          <p:cNvSpPr>
            <a:spLocks xmlns:a="http://schemas.openxmlformats.org/drawingml/2006/main" noGrp="1"/>
          </p:cNvSpPr>
          <p:nvPr/>
        </p:nvSpPr>
        <p:spPr>
          <a:xfrm xmlns:a="http://schemas.openxmlformats.org/drawingml/2006/main">
            <a:off x="685800" y="53340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Assistant records the return and condition, then closes the loan.</a:t>
            </a:r>
          </a:p>
        </p:txBody>
      </p:sp>
    </p:spTree>
    <p:extLst>
      <p:ext uri="{BB962C8B-B14F-4D97-AF65-F5344CB8AC3E}">
        <p14:creationId xmlns:p14="http://schemas.microsoft.com/office/powerpoint/2010/main" val="2124630437"/>
      </p:ext>
    </p:extLst>
  </p:cSld>
</p:sld>
</file>

<file path=ppt/slides/slide8.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88C7982-4E42-498D-9C36-C6D81804FE62}"/>
              </a:ext>
            </a:extLst>
          </p:cNvPr>
          <p:cNvSpPr>
            <a:spLocks xmlns:a="http://schemas.openxmlformats.org/drawingml/2006/main" noGrp="1"/>
          </p:cNvSpPr>
          <p:nvPr/>
        </p:nvSpPr>
        <p:spPr>
          <a:xfrm xmlns:a="http://schemas.openxmlformats.org/drawingml/2006/main">
            <a:off x="685800" y="495300"/>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82B46"/>
                </a:solidFill>
                <a:latin typeface="Arial"/>
                <a:ea typeface="Arial"/>
                <a:cs typeface="Arial"/>
              </a:defRPr>
            </a:pPr>
            <a:r>
              <a:rPr sz="3450" b="1">
                <a:solidFill>
                  <a:srgbClr val="182B46"/>
                </a:solidFill>
                <a:latin typeface="Arial"/>
                <a:ea typeface="Arial"/>
                <a:cs typeface="Arial"/>
              </a:rPr>
              <a:t>Counter issue and borrower identification</a:t>
            </a:r>
          </a:p>
        </p:txBody>
      </p:sp>
      <p:sp>
        <p:nvSpPr>
          <p:cNvPr id="2" name="">
            <a:extLst xmlns:a="http://schemas.openxmlformats.org/drawingml/2006/main">
              <a:ext uri="{FF2B5EF4-FFF2-40B4-BE49-F238E27FC236}">
                <a16:creationId xmlns:a16="http://schemas.microsoft.com/office/drawing/2014/main" id="{4D615BF6-B9D4-4043-9C10-2892AF206FFA}"/>
              </a:ext>
            </a:extLst>
          </p:cNvPr>
          <p:cNvSpPr>
            <a:spLocks xmlns:a="http://schemas.openxmlformats.org/drawingml/2006/main" noGrp="1"/>
          </p:cNvSpPr>
          <p:nvPr/>
        </p:nvSpPr>
        <p:spPr>
          <a:xfrm xmlns:a="http://schemas.openxmlformats.org/drawingml/2006/main">
            <a:off x="11144250" y="63055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47B"/>
                </a:solidFill>
                <a:latin typeface="Arial"/>
                <a:ea typeface="Arial"/>
                <a:cs typeface="Arial"/>
              </a:defRPr>
            </a:pPr>
            <a:r>
              <a:rPr sz="1350" b="0">
                <a:solidFill>
                  <a:srgbClr val="52647B"/>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619DAA82-7C36-4003-A507-55A6AF994D02}"/>
              </a:ext>
            </a:extLst>
          </p:cNvPr>
          <p:cNvSpPr>
            <a:spLocks xmlns:a="http://schemas.openxmlformats.org/drawingml/2006/main" noGrp="1"/>
          </p:cNvSpPr>
          <p:nvPr/>
        </p:nvSpPr>
        <p:spPr>
          <a:xfrm xmlns:a="http://schemas.openxmlformats.org/drawingml/2006/main">
            <a:off x="685800" y="1762125"/>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Borrower identity</a:t>
            </a:r>
          </a:p>
        </p:txBody>
      </p:sp>
      <p:sp>
        <p:nvSpPr>
          <p:cNvPr id="4" name="">
            <a:extLst xmlns:a="http://schemas.openxmlformats.org/drawingml/2006/main">
              <a:ext uri="{FF2B5EF4-FFF2-40B4-BE49-F238E27FC236}">
                <a16:creationId xmlns:a16="http://schemas.microsoft.com/office/drawing/2014/main" id="{06284AF9-991B-4B6B-AD64-24E8865241D8}"/>
              </a:ext>
            </a:extLst>
          </p:cNvPr>
          <p:cNvSpPr>
            <a:spLocks xmlns:a="http://schemas.openxmlformats.org/drawingml/2006/main" noGrp="1"/>
          </p:cNvSpPr>
          <p:nvPr/>
        </p:nvSpPr>
        <p:spPr>
          <a:xfrm xmlns:a="http://schemas.openxmlformats.org/drawingml/2006/main">
            <a:off x="685800" y="2162175"/>
            <a:ext cx="371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Enter or scan the registered institutional ID.</a:t>
            </a:r>
          </a:p>
        </p:txBody>
      </p:sp>
      <p:sp>
        <p:nvSpPr>
          <p:cNvPr id="5" name="">
            <a:extLst xmlns:a="http://schemas.openxmlformats.org/drawingml/2006/main">
              <a:ext uri="{FF2B5EF4-FFF2-40B4-BE49-F238E27FC236}">
                <a16:creationId xmlns:a16="http://schemas.microsoft.com/office/drawing/2014/main" id="{F27BF28D-A7D7-452F-82AA-F507CDA6DCCC}"/>
              </a:ext>
            </a:extLst>
          </p:cNvPr>
          <p:cNvSpPr>
            <a:spLocks xmlns:a="http://schemas.openxmlformats.org/drawingml/2006/main" noGrp="1"/>
          </p:cNvSpPr>
          <p:nvPr/>
        </p:nvSpPr>
        <p:spPr>
          <a:xfrm xmlns:a="http://schemas.openxmlformats.org/drawingml/2006/main">
            <a:off x="685800" y="3114675"/>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Asset identity</a:t>
            </a:r>
          </a:p>
        </p:txBody>
      </p:sp>
      <p:sp>
        <p:nvSpPr>
          <p:cNvPr id="6" name="">
            <a:extLst xmlns:a="http://schemas.openxmlformats.org/drawingml/2006/main">
              <a:ext uri="{FF2B5EF4-FFF2-40B4-BE49-F238E27FC236}">
                <a16:creationId xmlns:a16="http://schemas.microsoft.com/office/drawing/2014/main" id="{8F238E91-3BCC-4737-9F03-8B82BF0A3C93}"/>
              </a:ext>
            </a:extLst>
          </p:cNvPr>
          <p:cNvSpPr>
            <a:spLocks xmlns:a="http://schemas.openxmlformats.org/drawingml/2006/main" noGrp="1"/>
          </p:cNvSpPr>
          <p:nvPr/>
        </p:nvSpPr>
        <p:spPr>
          <a:xfrm xmlns:a="http://schemas.openxmlformats.org/drawingml/2006/main">
            <a:off x="685800" y="3514725"/>
            <a:ext cx="371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Scan or enter the unit asset tag.</a:t>
            </a:r>
          </a:p>
        </p:txBody>
      </p:sp>
      <p:sp>
        <p:nvSpPr>
          <p:cNvPr id="7" name="">
            <a:extLst xmlns:a="http://schemas.openxmlformats.org/drawingml/2006/main">
              <a:ext uri="{FF2B5EF4-FFF2-40B4-BE49-F238E27FC236}">
                <a16:creationId xmlns:a16="http://schemas.microsoft.com/office/drawing/2014/main" id="{74AFDE27-1DF4-42A0-A749-03AD1B10B4C5}"/>
              </a:ext>
            </a:extLst>
          </p:cNvPr>
          <p:cNvSpPr>
            <a:spLocks xmlns:a="http://schemas.openxmlformats.org/drawingml/2006/main" noGrp="1"/>
          </p:cNvSpPr>
          <p:nvPr/>
        </p:nvSpPr>
        <p:spPr>
          <a:xfrm xmlns:a="http://schemas.openxmlformats.org/drawingml/2006/main">
            <a:off x="685800" y="4467225"/>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Backend checks</a:t>
            </a:r>
          </a:p>
        </p:txBody>
      </p:sp>
      <p:sp>
        <p:nvSpPr>
          <p:cNvPr id="8" name="">
            <a:extLst xmlns:a="http://schemas.openxmlformats.org/drawingml/2006/main">
              <a:ext uri="{FF2B5EF4-FFF2-40B4-BE49-F238E27FC236}">
                <a16:creationId xmlns:a16="http://schemas.microsoft.com/office/drawing/2014/main" id="{CEF3003B-2F42-475F-8233-069447AB6CFA}"/>
              </a:ext>
            </a:extLst>
          </p:cNvPr>
          <p:cNvSpPr>
            <a:spLocks xmlns:a="http://schemas.openxmlformats.org/drawingml/2006/main" noGrp="1"/>
          </p:cNvSpPr>
          <p:nvPr/>
        </p:nvSpPr>
        <p:spPr>
          <a:xfrm xmlns:a="http://schemas.openxmlformats.org/drawingml/2006/main">
            <a:off x="685800" y="4867275"/>
            <a:ext cx="371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Validate the model, owning lab and available status.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f4d3cd37fd9a4c4a"/>
          <a:stretch xmlns:a="http://schemas.openxmlformats.org/drawingml/2006/main"/>
        </p:blipFill>
        <p:spPr>
          <a:xfrm xmlns:a="http://schemas.openxmlformats.org/drawingml/2006/main">
            <a:off x="4857750" y="1903750"/>
            <a:ext cx="6648450" cy="3488649"/>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DAEA43C0-1A5B-431D-9ECA-890CAA0F8CDD}"/>
              </a:ext>
            </a:extLst>
          </p:cNvPr>
          <p:cNvSpPr>
            <a:spLocks xmlns:a="http://schemas.openxmlformats.org/drawingml/2006/main" noGrp="1"/>
          </p:cNvSpPr>
          <p:nvPr/>
        </p:nvSpPr>
        <p:spPr>
          <a:xfrm xmlns:a="http://schemas.openxmlformats.org/drawingml/2006/main">
            <a:off x="4857750" y="5667375"/>
            <a:ext cx="66484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b="0">
                <a:solidFill>
                  <a:srgbClr val="52647B"/>
                </a:solidFill>
                <a:latin typeface="Arial"/>
                <a:ea typeface="Arial"/>
                <a:cs typeface="Arial"/>
              </a:defRPr>
            </a:pPr>
            <a:r>
              <a:rPr sz="1575" b="0">
                <a:solidFill>
                  <a:srgbClr val="52647B"/>
                </a:solidFill>
                <a:latin typeface="Arial"/>
                <a:ea typeface="Arial"/>
                <a:cs typeface="Arial"/>
              </a:rPr>
              <a:t>Project verification screenshot: institutional ID resolves a borrower</a:t>
            </a:r>
          </a:p>
        </p:txBody>
      </p:sp>
    </p:spTree>
    <p:extLst>
      <p:ext uri="{BB962C8B-B14F-4D97-AF65-F5344CB8AC3E}">
        <p14:creationId xmlns:p14="http://schemas.microsoft.com/office/powerpoint/2010/main" val="536635103"/>
      </p:ext>
    </p:extLst>
  </p:cSld>
</p:sld>
</file>

<file path=ppt/slides/slide9.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DB0047E-1AA0-4D95-8784-F44746F7DBF6}"/>
              </a:ext>
            </a:extLst>
          </p:cNvPr>
          <p:cNvSpPr>
            <a:spLocks xmlns:a="http://schemas.openxmlformats.org/drawingml/2006/main" noGrp="1"/>
          </p:cNvSpPr>
          <p:nvPr/>
        </p:nvSpPr>
        <p:spPr>
          <a:xfrm xmlns:a="http://schemas.openxmlformats.org/drawingml/2006/main">
            <a:off x="685800" y="495300"/>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82B46"/>
                </a:solidFill>
                <a:latin typeface="Arial"/>
                <a:ea typeface="Arial"/>
                <a:cs typeface="Arial"/>
              </a:defRPr>
            </a:pPr>
            <a:r>
              <a:rPr sz="3450" b="1">
                <a:solidFill>
                  <a:srgbClr val="182B46"/>
                </a:solidFill>
                <a:latin typeface="Arial"/>
                <a:ea typeface="Arial"/>
                <a:cs typeface="Arial"/>
              </a:rPr>
              <a:t>Returns and equipment condition</a:t>
            </a:r>
          </a:p>
        </p:txBody>
      </p:sp>
      <p:sp>
        <p:nvSpPr>
          <p:cNvPr id="2" name="">
            <a:extLst xmlns:a="http://schemas.openxmlformats.org/drawingml/2006/main">
              <a:ext uri="{FF2B5EF4-FFF2-40B4-BE49-F238E27FC236}">
                <a16:creationId xmlns:a16="http://schemas.microsoft.com/office/drawing/2014/main" id="{D7F57C41-2E5A-497B-AE31-CC7A02265DAD}"/>
              </a:ext>
            </a:extLst>
          </p:cNvPr>
          <p:cNvSpPr>
            <a:spLocks xmlns:a="http://schemas.openxmlformats.org/drawingml/2006/main" noGrp="1"/>
          </p:cNvSpPr>
          <p:nvPr/>
        </p:nvSpPr>
        <p:spPr>
          <a:xfrm xmlns:a="http://schemas.openxmlformats.org/drawingml/2006/main">
            <a:off x="11144250" y="63055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47B"/>
                </a:solidFill>
                <a:latin typeface="Arial"/>
                <a:ea typeface="Arial"/>
                <a:cs typeface="Arial"/>
              </a:defRPr>
            </a:pPr>
            <a:r>
              <a:rPr sz="1350" b="0">
                <a:solidFill>
                  <a:srgbClr val="52647B"/>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21B8FE6A-D332-4B41-91DE-70CAE6CBB5B2}"/>
              </a:ext>
            </a:extLst>
          </p:cNvPr>
          <p:cNvSpPr>
            <a:spLocks xmlns:a="http://schemas.openxmlformats.org/drawingml/2006/main" noGrp="1"/>
          </p:cNvSpPr>
          <p:nvPr/>
        </p:nvSpPr>
        <p:spPr>
          <a:xfrm xmlns:a="http://schemas.openxmlformats.org/drawingml/2006/main">
            <a:off x="685800" y="1762125"/>
            <a:ext cx="4933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Return record</a:t>
            </a:r>
          </a:p>
        </p:txBody>
      </p:sp>
      <p:sp>
        <p:nvSpPr>
          <p:cNvPr id="4" name="">
            <a:extLst xmlns:a="http://schemas.openxmlformats.org/drawingml/2006/main">
              <a:ext uri="{FF2B5EF4-FFF2-40B4-BE49-F238E27FC236}">
                <a16:creationId xmlns:a16="http://schemas.microsoft.com/office/drawing/2014/main" id="{B14D6C5F-12F4-4DE9-8DE4-5D607537ACB2}"/>
              </a:ext>
            </a:extLst>
          </p:cNvPr>
          <p:cNvSpPr>
            <a:spLocks xmlns:a="http://schemas.openxmlformats.org/drawingml/2006/main" noGrp="1"/>
          </p:cNvSpPr>
          <p:nvPr/>
        </p:nvSpPr>
        <p:spPr>
          <a:xfrm xmlns:a="http://schemas.openxmlformats.org/drawingml/2006/main">
            <a:off x="685800" y="2162175"/>
            <a:ext cx="49339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Stores return date and condition remarks against the active loan.</a:t>
            </a:r>
          </a:p>
        </p:txBody>
      </p:sp>
      <p:sp>
        <p:nvSpPr>
          <p:cNvPr id="5" name="">
            <a:extLst xmlns:a="http://schemas.openxmlformats.org/drawingml/2006/main">
              <a:ext uri="{FF2B5EF4-FFF2-40B4-BE49-F238E27FC236}">
                <a16:creationId xmlns:a16="http://schemas.microsoft.com/office/drawing/2014/main" id="{B5A24631-DE2F-41D2-97C6-97B310401A3F}"/>
              </a:ext>
            </a:extLst>
          </p:cNvPr>
          <p:cNvSpPr>
            <a:spLocks xmlns:a="http://schemas.openxmlformats.org/drawingml/2006/main" noGrp="1"/>
          </p:cNvSpPr>
          <p:nvPr/>
        </p:nvSpPr>
        <p:spPr>
          <a:xfrm xmlns:a="http://schemas.openxmlformats.org/drawingml/2006/main">
            <a:off x="685800" y="3143250"/>
            <a:ext cx="4933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Ready for another borrower</a:t>
            </a:r>
          </a:p>
        </p:txBody>
      </p:sp>
      <p:sp>
        <p:nvSpPr>
          <p:cNvPr id="6" name="">
            <a:extLst xmlns:a="http://schemas.openxmlformats.org/drawingml/2006/main">
              <a:ext uri="{FF2B5EF4-FFF2-40B4-BE49-F238E27FC236}">
                <a16:creationId xmlns:a16="http://schemas.microsoft.com/office/drawing/2014/main" id="{4118CCE0-BB15-47FA-8B80-B3742126B3F6}"/>
              </a:ext>
            </a:extLst>
          </p:cNvPr>
          <p:cNvSpPr>
            <a:spLocks xmlns:a="http://schemas.openxmlformats.org/drawingml/2006/main" noGrp="1"/>
          </p:cNvSpPr>
          <p:nvPr/>
        </p:nvSpPr>
        <p:spPr>
          <a:xfrm xmlns:a="http://schemas.openxmlformats.org/drawingml/2006/main">
            <a:off x="685800" y="3543300"/>
            <a:ext cx="49339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A normal return makes the equipment unit available.</a:t>
            </a:r>
          </a:p>
        </p:txBody>
      </p:sp>
      <p:sp>
        <p:nvSpPr>
          <p:cNvPr id="7" name="">
            <a:extLst xmlns:a="http://schemas.openxmlformats.org/drawingml/2006/main">
              <a:ext uri="{FF2B5EF4-FFF2-40B4-BE49-F238E27FC236}">
                <a16:creationId xmlns:a16="http://schemas.microsoft.com/office/drawing/2014/main" id="{0EC7D1EE-4F17-4379-8601-AEE9A427760F}"/>
              </a:ext>
            </a:extLst>
          </p:cNvPr>
          <p:cNvSpPr>
            <a:spLocks xmlns:a="http://schemas.openxmlformats.org/drawingml/2006/main" noGrp="1"/>
          </p:cNvSpPr>
          <p:nvPr/>
        </p:nvSpPr>
        <p:spPr>
          <a:xfrm xmlns:a="http://schemas.openxmlformats.org/drawingml/2006/main">
            <a:off x="6515100" y="1762125"/>
            <a:ext cx="4991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Maintenance</a:t>
            </a:r>
          </a:p>
        </p:txBody>
      </p:sp>
      <p:sp>
        <p:nvSpPr>
          <p:cNvPr id="8" name="">
            <a:extLst xmlns:a="http://schemas.openxmlformats.org/drawingml/2006/main">
              <a:ext uri="{FF2B5EF4-FFF2-40B4-BE49-F238E27FC236}">
                <a16:creationId xmlns:a16="http://schemas.microsoft.com/office/drawing/2014/main" id="{353EE7CD-CA77-491D-9F53-3EF854EE1E82}"/>
              </a:ext>
            </a:extLst>
          </p:cNvPr>
          <p:cNvSpPr>
            <a:spLocks xmlns:a="http://schemas.openxmlformats.org/drawingml/2006/main" noGrp="1"/>
          </p:cNvSpPr>
          <p:nvPr/>
        </p:nvSpPr>
        <p:spPr>
          <a:xfrm xmlns:a="http://schemas.openxmlformats.org/drawingml/2006/main">
            <a:off x="6515100" y="2162175"/>
            <a:ext cx="4991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Damage-related remarks move the unit to maintenance.</a:t>
            </a:r>
          </a:p>
        </p:txBody>
      </p:sp>
      <p:sp>
        <p:nvSpPr>
          <p:cNvPr id="9" name="">
            <a:extLst xmlns:a="http://schemas.openxmlformats.org/drawingml/2006/main">
              <a:ext uri="{FF2B5EF4-FFF2-40B4-BE49-F238E27FC236}">
                <a16:creationId xmlns:a16="http://schemas.microsoft.com/office/drawing/2014/main" id="{6D1C1A8B-0275-49FC-833A-ECAEBF0E66DD}"/>
              </a:ext>
            </a:extLst>
          </p:cNvPr>
          <p:cNvSpPr>
            <a:spLocks xmlns:a="http://schemas.openxmlformats.org/drawingml/2006/main" noGrp="1"/>
          </p:cNvSpPr>
          <p:nvPr/>
        </p:nvSpPr>
        <p:spPr>
          <a:xfrm xmlns:a="http://schemas.openxmlformats.org/drawingml/2006/main">
            <a:off x="6515100" y="3143250"/>
            <a:ext cx="4991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Overdue tracking</a:t>
            </a:r>
          </a:p>
        </p:txBody>
      </p:sp>
      <p:sp>
        <p:nvSpPr>
          <p:cNvPr id="10" name="">
            <a:extLst xmlns:a="http://schemas.openxmlformats.org/drawingml/2006/main">
              <a:ext uri="{FF2B5EF4-FFF2-40B4-BE49-F238E27FC236}">
                <a16:creationId xmlns:a16="http://schemas.microsoft.com/office/drawing/2014/main" id="{8A1101FE-0FED-4164-B237-636F29D6657E}"/>
              </a:ext>
            </a:extLst>
          </p:cNvPr>
          <p:cNvSpPr>
            <a:spLocks xmlns:a="http://schemas.openxmlformats.org/drawingml/2006/main" noGrp="1"/>
          </p:cNvSpPr>
          <p:nvPr/>
        </p:nvSpPr>
        <p:spPr>
          <a:xfrm xmlns:a="http://schemas.openxmlformats.org/drawingml/2006/main">
            <a:off x="6515100" y="3543300"/>
            <a:ext cx="4991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An active loan becomes overdue when its due date has passed.</a:t>
            </a:r>
          </a:p>
        </p:txBody>
      </p:sp>
    </p:spTree>
    <p:extLst>
      <p:ext uri="{BB962C8B-B14F-4D97-AF65-F5344CB8AC3E}">
        <p14:creationId xmlns:p14="http://schemas.microsoft.com/office/powerpoint/2010/main" val="629808009"/>
      </p:ext>
    </p:extLst>
  </p:cSld>
</p:sld>
</file>

<file path=ppt/slides/slide10.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608CCCD-B964-48FC-A02A-369E469F8F4E}"/>
              </a:ext>
            </a:extLst>
          </p:cNvPr>
          <p:cNvSpPr>
            <a:spLocks xmlns:a="http://schemas.openxmlformats.org/drawingml/2006/main" noGrp="1"/>
          </p:cNvSpPr>
          <p:nvPr/>
        </p:nvSpPr>
        <p:spPr>
          <a:xfrm xmlns:a="http://schemas.openxmlformats.org/drawingml/2006/main">
            <a:off x="685800" y="495300"/>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82B46"/>
                </a:solidFill>
                <a:latin typeface="Arial"/>
                <a:ea typeface="Arial"/>
                <a:cs typeface="Arial"/>
              </a:defRPr>
            </a:pPr>
            <a:r>
              <a:rPr sz="3450" b="1">
                <a:solidFill>
                  <a:srgbClr val="182B46"/>
                </a:solidFill>
                <a:latin typeface="Arial"/>
                <a:ea typeface="Arial"/>
                <a:cs typeface="Arial"/>
              </a:rPr>
              <a:t>Faculty event and club requests</a:t>
            </a:r>
          </a:p>
        </p:txBody>
      </p:sp>
      <p:sp>
        <p:nvSpPr>
          <p:cNvPr id="2" name="">
            <a:extLst xmlns:a="http://schemas.openxmlformats.org/drawingml/2006/main">
              <a:ext uri="{FF2B5EF4-FFF2-40B4-BE49-F238E27FC236}">
                <a16:creationId xmlns:a16="http://schemas.microsoft.com/office/drawing/2014/main" id="{7F3B7AC4-55B7-4A6C-982A-AC66356978FE}"/>
              </a:ext>
            </a:extLst>
          </p:cNvPr>
          <p:cNvSpPr>
            <a:spLocks xmlns:a="http://schemas.openxmlformats.org/drawingml/2006/main" noGrp="1"/>
          </p:cNvSpPr>
          <p:nvPr/>
        </p:nvSpPr>
        <p:spPr>
          <a:xfrm xmlns:a="http://schemas.openxmlformats.org/drawingml/2006/main">
            <a:off x="11144250" y="63055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47B"/>
                </a:solidFill>
                <a:latin typeface="Arial"/>
                <a:ea typeface="Arial"/>
                <a:cs typeface="Arial"/>
              </a:defRPr>
            </a:pPr>
            <a:r>
              <a:rPr sz="1350" b="0">
                <a:solidFill>
                  <a:srgbClr val="52647B"/>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027843F4-46ED-4EF6-AA4E-C30B80F8E09A}"/>
              </a:ext>
            </a:extLst>
          </p:cNvPr>
          <p:cNvSpPr>
            <a:spLocks xmlns:a="http://schemas.openxmlformats.org/drawingml/2006/main" noGrp="1"/>
          </p:cNvSpPr>
          <p:nvPr/>
        </p:nvSpPr>
        <p:spPr>
          <a:xfrm xmlns:a="http://schemas.openxmlformats.org/drawingml/2006/main">
            <a:off x="685800" y="176212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Faculty submission</a:t>
            </a:r>
          </a:p>
        </p:txBody>
      </p:sp>
      <p:sp>
        <p:nvSpPr>
          <p:cNvPr id="4" name="">
            <a:extLst xmlns:a="http://schemas.openxmlformats.org/drawingml/2006/main">
              <a:ext uri="{FF2B5EF4-FFF2-40B4-BE49-F238E27FC236}">
                <a16:creationId xmlns:a16="http://schemas.microsoft.com/office/drawing/2014/main" id="{A17A5FC1-1A13-453D-BC0C-53E34D678A8D}"/>
              </a:ext>
            </a:extLst>
          </p:cNvPr>
          <p:cNvSpPr>
            <a:spLocks xmlns:a="http://schemas.openxmlformats.org/drawingml/2006/main" noGrp="1"/>
          </p:cNvSpPr>
          <p:nvPr/>
        </p:nvSpPr>
        <p:spPr>
          <a:xfrm xmlns:a="http://schemas.openxmlformats.org/drawingml/2006/main">
            <a:off x="685800" y="2162175"/>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Choose a lab, equipment types, quantities and event details.</a:t>
            </a:r>
          </a:p>
        </p:txBody>
      </p:sp>
      <p:sp>
        <p:nvSpPr>
          <p:cNvPr id="5" name="">
            <a:extLst xmlns:a="http://schemas.openxmlformats.org/drawingml/2006/main">
              <a:ext uri="{FF2B5EF4-FFF2-40B4-BE49-F238E27FC236}">
                <a16:creationId xmlns:a16="http://schemas.microsoft.com/office/drawing/2014/main" id="{5669C969-8949-4A04-811B-94F5346354B8}"/>
              </a:ext>
            </a:extLst>
          </p:cNvPr>
          <p:cNvSpPr>
            <a:spLocks xmlns:a="http://schemas.openxmlformats.org/drawingml/2006/main" noGrp="1"/>
          </p:cNvSpPr>
          <p:nvPr/>
        </p:nvSpPr>
        <p:spPr>
          <a:xfrm xmlns:a="http://schemas.openxmlformats.org/drawingml/2006/main">
            <a:off x="685800" y="28194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Assistant allocation</a:t>
            </a:r>
          </a:p>
        </p:txBody>
      </p:sp>
      <p:sp>
        <p:nvSpPr>
          <p:cNvPr id="6" name="">
            <a:extLst xmlns:a="http://schemas.openxmlformats.org/drawingml/2006/main">
              <a:ext uri="{FF2B5EF4-FFF2-40B4-BE49-F238E27FC236}">
                <a16:creationId xmlns:a16="http://schemas.microsoft.com/office/drawing/2014/main" id="{AA091E84-62C7-4DF0-93EA-C4E9C1D54B85}"/>
              </a:ext>
            </a:extLst>
          </p:cNvPr>
          <p:cNvSpPr>
            <a:spLocks xmlns:a="http://schemas.openxmlformats.org/drawingml/2006/main" noGrp="1"/>
          </p:cNvSpPr>
          <p:nvPr/>
        </p:nvSpPr>
        <p:spPr>
          <a:xfrm xmlns:a="http://schemas.openxmlformats.org/drawingml/2006/main">
            <a:off x="685800" y="32194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Select the exact units that match the requested quantities.</a:t>
            </a:r>
          </a:p>
        </p:txBody>
      </p:sp>
      <p:sp>
        <p:nvSpPr>
          <p:cNvPr id="7" name="">
            <a:extLst xmlns:a="http://schemas.openxmlformats.org/drawingml/2006/main">
              <a:ext uri="{FF2B5EF4-FFF2-40B4-BE49-F238E27FC236}">
                <a16:creationId xmlns:a16="http://schemas.microsoft.com/office/drawing/2014/main" id="{338B9D8C-6E25-43E1-BF77-72D4DF11E311}"/>
              </a:ext>
            </a:extLst>
          </p:cNvPr>
          <p:cNvSpPr>
            <a:spLocks xmlns:a="http://schemas.openxmlformats.org/drawingml/2006/main" noGrp="1"/>
          </p:cNvSpPr>
          <p:nvPr/>
        </p:nvSpPr>
        <p:spPr>
          <a:xfrm xmlns:a="http://schemas.openxmlformats.org/drawingml/2006/main">
            <a:off x="685800" y="38766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Approval and issue</a:t>
            </a:r>
          </a:p>
        </p:txBody>
      </p:sp>
      <p:sp>
        <p:nvSpPr>
          <p:cNvPr id="8" name="">
            <a:extLst xmlns:a="http://schemas.openxmlformats.org/drawingml/2006/main">
              <a:ext uri="{FF2B5EF4-FFF2-40B4-BE49-F238E27FC236}">
                <a16:creationId xmlns:a16="http://schemas.microsoft.com/office/drawing/2014/main" id="{7382BAC3-90CB-48D4-A4C2-5296B58AD969}"/>
              </a:ext>
            </a:extLst>
          </p:cNvPr>
          <p:cNvSpPr>
            <a:spLocks xmlns:a="http://schemas.openxmlformats.org/drawingml/2006/main" noGrp="1"/>
          </p:cNvSpPr>
          <p:nvPr/>
        </p:nvSpPr>
        <p:spPr>
          <a:xfrm xmlns:a="http://schemas.openxmlformats.org/drawingml/2006/main">
            <a:off x="685800" y="4276725"/>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Recheck availability and create the event loans together.</a:t>
            </a:r>
          </a:p>
        </p:txBody>
      </p:sp>
      <p:sp>
        <p:nvSpPr>
          <p:cNvPr id="9" name="">
            <a:extLst xmlns:a="http://schemas.openxmlformats.org/drawingml/2006/main">
              <a:ext uri="{FF2B5EF4-FFF2-40B4-BE49-F238E27FC236}">
                <a16:creationId xmlns:a16="http://schemas.microsoft.com/office/drawing/2014/main" id="{299E1BDE-967E-4FAC-A88C-AA38697DF402}"/>
              </a:ext>
            </a:extLst>
          </p:cNvPr>
          <p:cNvSpPr>
            <a:spLocks xmlns:a="http://schemas.openxmlformats.org/drawingml/2006/main" noGrp="1"/>
          </p:cNvSpPr>
          <p:nvPr/>
        </p:nvSpPr>
        <p:spPr>
          <a:xfrm xmlns:a="http://schemas.openxmlformats.org/drawingml/2006/main">
            <a:off x="685800" y="493395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Decision visibility</a:t>
            </a:r>
          </a:p>
        </p:txBody>
      </p:sp>
      <p:sp>
        <p:nvSpPr>
          <p:cNvPr id="10" name="">
            <a:extLst xmlns:a="http://schemas.openxmlformats.org/drawingml/2006/main">
              <a:ext uri="{FF2B5EF4-FFF2-40B4-BE49-F238E27FC236}">
                <a16:creationId xmlns:a16="http://schemas.microsoft.com/office/drawing/2014/main" id="{84808755-1FB6-43CA-ABD7-AC925D45C6A7}"/>
              </a:ext>
            </a:extLst>
          </p:cNvPr>
          <p:cNvSpPr>
            <a:spLocks xmlns:a="http://schemas.openxmlformats.org/drawingml/2006/main" noGrp="1"/>
          </p:cNvSpPr>
          <p:nvPr/>
        </p:nvSpPr>
        <p:spPr>
          <a:xfrm xmlns:a="http://schemas.openxmlformats.org/drawingml/2006/main">
            <a:off x="685800" y="53340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Faculty can track approval or the recorded rejection reason.</a:t>
            </a:r>
          </a:p>
        </p:txBody>
      </p:sp>
    </p:spTree>
    <p:extLst>
      <p:ext uri="{BB962C8B-B14F-4D97-AF65-F5344CB8AC3E}">
        <p14:creationId xmlns:p14="http://schemas.microsoft.com/office/powerpoint/2010/main" val="187367266"/>
      </p:ext>
    </p:extLst>
  </p:cSld>
</p:sld>
</file>

<file path=ppt/slides/slide11.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7007B0F-1AD3-4E31-9D11-EB8BF07F755D}"/>
              </a:ext>
            </a:extLst>
          </p:cNvPr>
          <p:cNvSpPr>
            <a:spLocks xmlns:a="http://schemas.openxmlformats.org/drawingml/2006/main" noGrp="1"/>
          </p:cNvSpPr>
          <p:nvPr/>
        </p:nvSpPr>
        <p:spPr>
          <a:xfrm xmlns:a="http://schemas.openxmlformats.org/drawingml/2006/main">
            <a:off x="685800" y="495300"/>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82B46"/>
                </a:solidFill>
                <a:latin typeface="Arial"/>
                <a:ea typeface="Arial"/>
                <a:cs typeface="Arial"/>
              </a:defRPr>
            </a:pPr>
            <a:r>
              <a:rPr sz="3450" b="1">
                <a:solidFill>
                  <a:srgbClr val="182B46"/>
                </a:solidFill>
                <a:latin typeface="Arial"/>
                <a:ea typeface="Arial"/>
                <a:cs typeface="Arial"/>
              </a:rPr>
              <a:t>Other equipment circulation flows</a:t>
            </a:r>
          </a:p>
        </p:txBody>
      </p:sp>
      <p:sp>
        <p:nvSpPr>
          <p:cNvPr id="2" name="">
            <a:extLst xmlns:a="http://schemas.openxmlformats.org/drawingml/2006/main">
              <a:ext uri="{FF2B5EF4-FFF2-40B4-BE49-F238E27FC236}">
                <a16:creationId xmlns:a16="http://schemas.microsoft.com/office/drawing/2014/main" id="{76C16701-9D7C-45A4-8684-9BA4E8C6900D}"/>
              </a:ext>
            </a:extLst>
          </p:cNvPr>
          <p:cNvSpPr>
            <a:spLocks xmlns:a="http://schemas.openxmlformats.org/drawingml/2006/main" noGrp="1"/>
          </p:cNvSpPr>
          <p:nvPr/>
        </p:nvSpPr>
        <p:spPr>
          <a:xfrm xmlns:a="http://schemas.openxmlformats.org/drawingml/2006/main">
            <a:off x="11144250" y="63055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47B"/>
                </a:solidFill>
                <a:latin typeface="Arial"/>
                <a:ea typeface="Arial"/>
                <a:cs typeface="Arial"/>
              </a:defRPr>
            </a:pPr>
            <a:r>
              <a:rPr sz="1350" b="0">
                <a:solidFill>
                  <a:srgbClr val="52647B"/>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5778014F-B72B-4523-9F0F-2564386468BC}"/>
              </a:ext>
            </a:extLst>
          </p:cNvPr>
          <p:cNvSpPr>
            <a:spLocks xmlns:a="http://schemas.openxmlformats.org/drawingml/2006/main" noGrp="1"/>
          </p:cNvSpPr>
          <p:nvPr/>
        </p:nvSpPr>
        <p:spPr>
          <a:xfrm xmlns:a="http://schemas.openxmlformats.org/drawingml/2006/main">
            <a:off x="685800" y="176212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Walk-in issue</a:t>
            </a:r>
          </a:p>
        </p:txBody>
      </p:sp>
      <p:sp>
        <p:nvSpPr>
          <p:cNvPr id="4" name="">
            <a:extLst xmlns:a="http://schemas.openxmlformats.org/drawingml/2006/main">
              <a:ext uri="{FF2B5EF4-FFF2-40B4-BE49-F238E27FC236}">
                <a16:creationId xmlns:a16="http://schemas.microsoft.com/office/drawing/2014/main" id="{378095D9-8C1A-4D9C-8608-EE3F3DB89662}"/>
              </a:ext>
            </a:extLst>
          </p:cNvPr>
          <p:cNvSpPr>
            <a:spLocks xmlns:a="http://schemas.openxmlformats.org/drawingml/2006/main" noGrp="1"/>
          </p:cNvSpPr>
          <p:nvPr/>
        </p:nvSpPr>
        <p:spPr>
          <a:xfrm xmlns:a="http://schemas.openxmlformats.org/drawingml/2006/main">
            <a:off x="685800" y="2162175"/>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Assistant records a direct counter loan without a prior reservation.</a:t>
            </a:r>
          </a:p>
        </p:txBody>
      </p:sp>
      <p:sp>
        <p:nvSpPr>
          <p:cNvPr id="5" name="">
            <a:extLst xmlns:a="http://schemas.openxmlformats.org/drawingml/2006/main">
              <a:ext uri="{FF2B5EF4-FFF2-40B4-BE49-F238E27FC236}">
                <a16:creationId xmlns:a16="http://schemas.microsoft.com/office/drawing/2014/main" id="{6F95BED7-6605-416A-9310-AF2E044B9D39}"/>
              </a:ext>
            </a:extLst>
          </p:cNvPr>
          <p:cNvSpPr>
            <a:spLocks xmlns:a="http://schemas.openxmlformats.org/drawingml/2006/main" noGrp="1"/>
          </p:cNvSpPr>
          <p:nvPr/>
        </p:nvSpPr>
        <p:spPr>
          <a:xfrm xmlns:a="http://schemas.openxmlformats.org/drawingml/2006/main">
            <a:off x="685800" y="314325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Faculty quick borrow</a:t>
            </a:r>
          </a:p>
        </p:txBody>
      </p:sp>
      <p:sp>
        <p:nvSpPr>
          <p:cNvPr id="6" name="">
            <a:extLst xmlns:a="http://schemas.openxmlformats.org/drawingml/2006/main">
              <a:ext uri="{FF2B5EF4-FFF2-40B4-BE49-F238E27FC236}">
                <a16:creationId xmlns:a16="http://schemas.microsoft.com/office/drawing/2014/main" id="{926EC6D6-FFD1-40FC-B805-15A1F1C29074}"/>
              </a:ext>
            </a:extLst>
          </p:cNvPr>
          <p:cNvSpPr>
            <a:spLocks xmlns:a="http://schemas.openxmlformats.org/drawingml/2006/main" noGrp="1"/>
          </p:cNvSpPr>
          <p:nvPr/>
        </p:nvSpPr>
        <p:spPr>
          <a:xfrm xmlns:a="http://schemas.openxmlformats.org/drawingml/2006/main">
            <a:off x="685800" y="35433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A short counter loan supports same-day equipment use.</a:t>
            </a:r>
          </a:p>
        </p:txBody>
      </p:sp>
      <p:sp>
        <p:nvSpPr>
          <p:cNvPr id="7" name="">
            <a:extLst xmlns:a="http://schemas.openxmlformats.org/drawingml/2006/main">
              <a:ext uri="{FF2B5EF4-FFF2-40B4-BE49-F238E27FC236}">
                <a16:creationId xmlns:a16="http://schemas.microsoft.com/office/drawing/2014/main" id="{5F449D11-6CA6-4255-9457-7ACBBD0AC1E1}"/>
              </a:ext>
            </a:extLst>
          </p:cNvPr>
          <p:cNvSpPr>
            <a:spLocks xmlns:a="http://schemas.openxmlformats.org/drawingml/2006/main" noGrp="1"/>
          </p:cNvSpPr>
          <p:nvPr/>
        </p:nvSpPr>
        <p:spPr>
          <a:xfrm xmlns:a="http://schemas.openxmlformats.org/drawingml/2006/main">
            <a:off x="685800" y="45243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Inter-lab transfer</a:t>
            </a:r>
          </a:p>
        </p:txBody>
      </p:sp>
      <p:sp>
        <p:nvSpPr>
          <p:cNvPr id="8" name="">
            <a:extLst xmlns:a="http://schemas.openxmlformats.org/drawingml/2006/main">
              <a:ext uri="{FF2B5EF4-FFF2-40B4-BE49-F238E27FC236}">
                <a16:creationId xmlns:a16="http://schemas.microsoft.com/office/drawing/2014/main" id="{8D421357-DC43-4EEF-BE7B-2CA026AABBFD}"/>
              </a:ext>
            </a:extLst>
          </p:cNvPr>
          <p:cNvSpPr>
            <a:spLocks xmlns:a="http://schemas.openxmlformats.org/drawingml/2006/main" noGrp="1"/>
          </p:cNvSpPr>
          <p:nvPr/>
        </p:nvSpPr>
        <p:spPr>
          <a:xfrm xmlns:a="http://schemas.openxmlformats.org/drawingml/2006/main">
            <a:off x="685800" y="4924425"/>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Admin approval marks units in transit. Receiving staff complete the move.</a:t>
            </a:r>
          </a:p>
        </p:txBody>
      </p:sp>
    </p:spTree>
    <p:extLst>
      <p:ext uri="{BB962C8B-B14F-4D97-AF65-F5344CB8AC3E}">
        <p14:creationId xmlns:p14="http://schemas.microsoft.com/office/powerpoint/2010/main" val="528185699"/>
      </p:ext>
    </p:extLst>
  </p:cSld>
</p:sld>
</file>

<file path=ppt/slides/slide12.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61F4635-1470-40B7-8B17-059D5BCF88C1}"/>
              </a:ext>
            </a:extLst>
          </p:cNvPr>
          <p:cNvSpPr>
            <a:spLocks xmlns:a="http://schemas.openxmlformats.org/drawingml/2006/main" noGrp="1"/>
          </p:cNvSpPr>
          <p:nvPr/>
        </p:nvSpPr>
        <p:spPr>
          <a:xfrm xmlns:a="http://schemas.openxmlformats.org/drawingml/2006/main">
            <a:off x="685800" y="495300"/>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82B46"/>
                </a:solidFill>
                <a:latin typeface="Arial"/>
                <a:ea typeface="Arial"/>
                <a:cs typeface="Arial"/>
              </a:defRPr>
            </a:pPr>
            <a:r>
              <a:rPr sz="3450" b="1">
                <a:solidFill>
                  <a:srgbClr val="182B46"/>
                </a:solidFill>
                <a:latin typeface="Arial"/>
                <a:ea typeface="Arial"/>
                <a:cs typeface="Arial"/>
              </a:rPr>
              <a:t>System architecture</a:t>
            </a:r>
          </a:p>
        </p:txBody>
      </p:sp>
      <p:sp>
        <p:nvSpPr>
          <p:cNvPr id="2" name="">
            <a:extLst xmlns:a="http://schemas.openxmlformats.org/drawingml/2006/main">
              <a:ext uri="{FF2B5EF4-FFF2-40B4-BE49-F238E27FC236}">
                <a16:creationId xmlns:a16="http://schemas.microsoft.com/office/drawing/2014/main" id="{305A1531-D969-4FFE-A33F-FDC825A932F7}"/>
              </a:ext>
            </a:extLst>
          </p:cNvPr>
          <p:cNvSpPr>
            <a:spLocks xmlns:a="http://schemas.openxmlformats.org/drawingml/2006/main" noGrp="1"/>
          </p:cNvSpPr>
          <p:nvPr/>
        </p:nvSpPr>
        <p:spPr>
          <a:xfrm xmlns:a="http://schemas.openxmlformats.org/drawingml/2006/main">
            <a:off x="11144250" y="63055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47B"/>
                </a:solidFill>
                <a:latin typeface="Arial"/>
                <a:ea typeface="Arial"/>
                <a:cs typeface="Arial"/>
              </a:defRPr>
            </a:pPr>
            <a:r>
              <a:rPr sz="1350" b="0">
                <a:solidFill>
                  <a:srgbClr val="52647B"/>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96BACED5-FB7A-4AA6-AED6-68A72380EB80}"/>
              </a:ext>
            </a:extLst>
          </p:cNvPr>
          <p:cNvSpPr>
            <a:spLocks xmlns:a="http://schemas.openxmlformats.org/drawingml/2006/main" noGrp="1"/>
          </p:cNvSpPr>
          <p:nvPr/>
        </p:nvSpPr>
        <p:spPr>
          <a:xfrm xmlns:a="http://schemas.openxmlformats.org/drawingml/2006/main">
            <a:off x="685800" y="176212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Browser interface</a:t>
            </a:r>
          </a:p>
        </p:txBody>
      </p:sp>
      <p:sp>
        <p:nvSpPr>
          <p:cNvPr id="4" name="">
            <a:extLst xmlns:a="http://schemas.openxmlformats.org/drawingml/2006/main">
              <a:ext uri="{FF2B5EF4-FFF2-40B4-BE49-F238E27FC236}">
                <a16:creationId xmlns:a16="http://schemas.microsoft.com/office/drawing/2014/main" id="{864D01B3-DE79-4E86-B6D0-55FC2F2771B2}"/>
              </a:ext>
            </a:extLst>
          </p:cNvPr>
          <p:cNvSpPr>
            <a:spLocks xmlns:a="http://schemas.openxmlformats.org/drawingml/2006/main" noGrp="1"/>
          </p:cNvSpPr>
          <p:nvPr/>
        </p:nvSpPr>
        <p:spPr>
          <a:xfrm xmlns:a="http://schemas.openxmlformats.org/drawingml/2006/main">
            <a:off x="685800" y="2162175"/>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React 19, Vite, React Router and Axios</a:t>
            </a:r>
          </a:p>
        </p:txBody>
      </p:sp>
      <p:sp>
        <p:nvSpPr>
          <p:cNvPr id="5" name="">
            <a:extLst xmlns:a="http://schemas.openxmlformats.org/drawingml/2006/main">
              <a:ext uri="{FF2B5EF4-FFF2-40B4-BE49-F238E27FC236}">
                <a16:creationId xmlns:a16="http://schemas.microsoft.com/office/drawing/2014/main" id="{D0A43657-21FA-4B5C-8B97-41C527BD57B3}"/>
              </a:ext>
            </a:extLst>
          </p:cNvPr>
          <p:cNvSpPr>
            <a:spLocks xmlns:a="http://schemas.openxmlformats.org/drawingml/2006/main" noGrp="1"/>
          </p:cNvSpPr>
          <p:nvPr/>
        </p:nvSpPr>
        <p:spPr>
          <a:xfrm xmlns:a="http://schemas.openxmlformats.org/drawingml/2006/main">
            <a:off x="685800" y="28194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Application API</a:t>
            </a:r>
          </a:p>
        </p:txBody>
      </p:sp>
      <p:sp>
        <p:nvSpPr>
          <p:cNvPr id="6" name="">
            <a:extLst xmlns:a="http://schemas.openxmlformats.org/drawingml/2006/main">
              <a:ext uri="{FF2B5EF4-FFF2-40B4-BE49-F238E27FC236}">
                <a16:creationId xmlns:a16="http://schemas.microsoft.com/office/drawing/2014/main" id="{4FC0ECE3-562B-4D82-A819-F605BB25DF37}"/>
              </a:ext>
            </a:extLst>
          </p:cNvPr>
          <p:cNvSpPr>
            <a:spLocks xmlns:a="http://schemas.openxmlformats.org/drawingml/2006/main" noGrp="1"/>
          </p:cNvSpPr>
          <p:nvPr/>
        </p:nvSpPr>
        <p:spPr>
          <a:xfrm xmlns:a="http://schemas.openxmlformats.org/drawingml/2006/main">
            <a:off x="685800" y="32194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FastAPI validates requests and applies role and workflow rules.</a:t>
            </a:r>
          </a:p>
        </p:txBody>
      </p:sp>
      <p:sp>
        <p:nvSpPr>
          <p:cNvPr id="7" name="">
            <a:extLst xmlns:a="http://schemas.openxmlformats.org/drawingml/2006/main">
              <a:ext uri="{FF2B5EF4-FFF2-40B4-BE49-F238E27FC236}">
                <a16:creationId xmlns:a16="http://schemas.microsoft.com/office/drawing/2014/main" id="{DEFBE035-6BEA-40F6-BB2C-D409154CE25C}"/>
              </a:ext>
            </a:extLst>
          </p:cNvPr>
          <p:cNvSpPr>
            <a:spLocks xmlns:a="http://schemas.openxmlformats.org/drawingml/2006/main" noGrp="1"/>
          </p:cNvSpPr>
          <p:nvPr/>
        </p:nvSpPr>
        <p:spPr>
          <a:xfrm xmlns:a="http://schemas.openxmlformats.org/drawingml/2006/main">
            <a:off x="685800" y="38766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Data layer</a:t>
            </a:r>
          </a:p>
        </p:txBody>
      </p:sp>
      <p:sp>
        <p:nvSpPr>
          <p:cNvPr id="8" name="">
            <a:extLst xmlns:a="http://schemas.openxmlformats.org/drawingml/2006/main">
              <a:ext uri="{FF2B5EF4-FFF2-40B4-BE49-F238E27FC236}">
                <a16:creationId xmlns:a16="http://schemas.microsoft.com/office/drawing/2014/main" id="{283DFECD-B932-48F9-BC2B-6F0823C6D49D}"/>
              </a:ext>
            </a:extLst>
          </p:cNvPr>
          <p:cNvSpPr>
            <a:spLocks xmlns:a="http://schemas.openxmlformats.org/drawingml/2006/main" noGrp="1"/>
          </p:cNvSpPr>
          <p:nvPr/>
        </p:nvSpPr>
        <p:spPr>
          <a:xfrm xmlns:a="http://schemas.openxmlformats.org/drawingml/2006/main">
            <a:off x="685800" y="4276725"/>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SQLAlchemy and PostgreSQL persist equipment, requests and loans.</a:t>
            </a:r>
          </a:p>
        </p:txBody>
      </p:sp>
      <p:sp>
        <p:nvSpPr>
          <p:cNvPr id="9" name="">
            <a:extLst xmlns:a="http://schemas.openxmlformats.org/drawingml/2006/main">
              <a:ext uri="{FF2B5EF4-FFF2-40B4-BE49-F238E27FC236}">
                <a16:creationId xmlns:a16="http://schemas.microsoft.com/office/drawing/2014/main" id="{B395A01A-0456-42BB-87EC-3651758AD74D}"/>
              </a:ext>
            </a:extLst>
          </p:cNvPr>
          <p:cNvSpPr>
            <a:spLocks xmlns:a="http://schemas.openxmlformats.org/drawingml/2006/main" noGrp="1"/>
          </p:cNvSpPr>
          <p:nvPr/>
        </p:nvSpPr>
        <p:spPr>
          <a:xfrm xmlns:a="http://schemas.openxmlformats.org/drawingml/2006/main">
            <a:off x="685800" y="493395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Supporting services</a:t>
            </a:r>
          </a:p>
        </p:txBody>
      </p:sp>
      <p:sp>
        <p:nvSpPr>
          <p:cNvPr id="10" name="">
            <a:extLst xmlns:a="http://schemas.openxmlformats.org/drawingml/2006/main">
              <a:ext uri="{FF2B5EF4-FFF2-40B4-BE49-F238E27FC236}">
                <a16:creationId xmlns:a16="http://schemas.microsoft.com/office/drawing/2014/main" id="{87F3DC30-17EF-447F-A6A7-E6AFFF3AA1CF}"/>
              </a:ext>
            </a:extLst>
          </p:cNvPr>
          <p:cNvSpPr>
            <a:spLocks xmlns:a="http://schemas.openxmlformats.org/drawingml/2006/main" noGrp="1"/>
          </p:cNvSpPr>
          <p:nvPr/>
        </p:nvSpPr>
        <p:spPr>
          <a:xfrm xmlns:a="http://schemas.openxmlformats.org/drawingml/2006/main">
            <a:off x="685800" y="53340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Alembic migrations, portal notifications and an optional email outbox</a:t>
            </a:r>
          </a:p>
        </p:txBody>
      </p:sp>
    </p:spTree>
    <p:extLst>
      <p:ext uri="{BB962C8B-B14F-4D97-AF65-F5344CB8AC3E}">
        <p14:creationId xmlns:p14="http://schemas.microsoft.com/office/powerpoint/2010/main" val="970939738"/>
      </p:ext>
    </p:extLst>
  </p:cSld>
</p:sld>
</file>

<file path=ppt/slides/slide13.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0573E69-0352-4A65-B1B9-15F4F5DBC271}"/>
              </a:ext>
            </a:extLst>
          </p:cNvPr>
          <p:cNvSpPr>
            <a:spLocks xmlns:a="http://schemas.openxmlformats.org/drawingml/2006/main" noGrp="1"/>
          </p:cNvSpPr>
          <p:nvPr/>
        </p:nvSpPr>
        <p:spPr>
          <a:xfrm xmlns:a="http://schemas.openxmlformats.org/drawingml/2006/main">
            <a:off x="685800" y="495300"/>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82B46"/>
                </a:solidFill>
                <a:latin typeface="Arial"/>
                <a:ea typeface="Arial"/>
                <a:cs typeface="Arial"/>
              </a:defRPr>
            </a:pPr>
            <a:r>
              <a:rPr sz="3450" b="1">
                <a:solidFill>
                  <a:srgbClr val="182B46"/>
                </a:solidFill>
                <a:latin typeface="Arial"/>
                <a:ea typeface="Arial"/>
                <a:cs typeface="Arial"/>
              </a:rPr>
              <a:t>Core database relationships</a:t>
            </a:r>
          </a:p>
        </p:txBody>
      </p:sp>
      <p:sp>
        <p:nvSpPr>
          <p:cNvPr id="2" name="">
            <a:extLst xmlns:a="http://schemas.openxmlformats.org/drawingml/2006/main">
              <a:ext uri="{FF2B5EF4-FFF2-40B4-BE49-F238E27FC236}">
                <a16:creationId xmlns:a16="http://schemas.microsoft.com/office/drawing/2014/main" id="{2259CFB1-5598-441C-A640-AF47D5EF3F53}"/>
              </a:ext>
            </a:extLst>
          </p:cNvPr>
          <p:cNvSpPr>
            <a:spLocks xmlns:a="http://schemas.openxmlformats.org/drawingml/2006/main" noGrp="1"/>
          </p:cNvSpPr>
          <p:nvPr/>
        </p:nvSpPr>
        <p:spPr>
          <a:xfrm xmlns:a="http://schemas.openxmlformats.org/drawingml/2006/main">
            <a:off x="11144250" y="63055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47B"/>
                </a:solidFill>
                <a:latin typeface="Arial"/>
                <a:ea typeface="Arial"/>
                <a:cs typeface="Arial"/>
              </a:defRPr>
            </a:pPr>
            <a:r>
              <a:rPr sz="1350" b="0">
                <a:solidFill>
                  <a:srgbClr val="52647B"/>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3AAEC49B-D5DA-4CBB-919B-B50A56F0512F}"/>
              </a:ext>
            </a:extLst>
          </p:cNvPr>
          <p:cNvSpPr>
            <a:spLocks xmlns:a="http://schemas.openxmlformats.org/drawingml/2006/main" noGrp="1"/>
          </p:cNvSpPr>
          <p:nvPr/>
        </p:nvSpPr>
        <p:spPr>
          <a:xfrm xmlns:a="http://schemas.openxmlformats.org/drawingml/2006/main">
            <a:off x="685800" y="1762125"/>
            <a:ext cx="4933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Inventory hierarchy</a:t>
            </a:r>
          </a:p>
        </p:txBody>
      </p:sp>
      <p:sp>
        <p:nvSpPr>
          <p:cNvPr id="4" name="">
            <a:extLst xmlns:a="http://schemas.openxmlformats.org/drawingml/2006/main">
              <a:ext uri="{FF2B5EF4-FFF2-40B4-BE49-F238E27FC236}">
                <a16:creationId xmlns:a16="http://schemas.microsoft.com/office/drawing/2014/main" id="{9EB9F5BD-4201-4561-9021-55FDD76C8C38}"/>
              </a:ext>
            </a:extLst>
          </p:cNvPr>
          <p:cNvSpPr>
            <a:spLocks xmlns:a="http://schemas.openxmlformats.org/drawingml/2006/main" noGrp="1"/>
          </p:cNvSpPr>
          <p:nvPr/>
        </p:nvSpPr>
        <p:spPr>
          <a:xfrm xmlns:a="http://schemas.openxmlformats.org/drawingml/2006/main">
            <a:off x="685800" y="2162175"/>
            <a:ext cx="49339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Department contains labs.</a:t>
            </a:r>
          </a:p>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Equipment model contains individual units.</a:t>
            </a:r>
          </a:p>
        </p:txBody>
      </p:sp>
      <p:sp>
        <p:nvSpPr>
          <p:cNvPr id="5" name="">
            <a:extLst xmlns:a="http://schemas.openxmlformats.org/drawingml/2006/main">
              <a:ext uri="{FF2B5EF4-FFF2-40B4-BE49-F238E27FC236}">
                <a16:creationId xmlns:a16="http://schemas.microsoft.com/office/drawing/2014/main" id="{A5AEEE06-1B73-4EF5-AAF8-BF0CCB46D929}"/>
              </a:ext>
            </a:extLst>
          </p:cNvPr>
          <p:cNvSpPr>
            <a:spLocks xmlns:a="http://schemas.openxmlformats.org/drawingml/2006/main" noGrp="1"/>
          </p:cNvSpPr>
          <p:nvPr/>
        </p:nvSpPr>
        <p:spPr>
          <a:xfrm xmlns:a="http://schemas.openxmlformats.org/drawingml/2006/main">
            <a:off x="685800" y="3143250"/>
            <a:ext cx="4933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Borrowing relationship</a:t>
            </a:r>
          </a:p>
        </p:txBody>
      </p:sp>
      <p:sp>
        <p:nvSpPr>
          <p:cNvPr id="6" name="">
            <a:extLst xmlns:a="http://schemas.openxmlformats.org/drawingml/2006/main">
              <a:ext uri="{FF2B5EF4-FFF2-40B4-BE49-F238E27FC236}">
                <a16:creationId xmlns:a16="http://schemas.microsoft.com/office/drawing/2014/main" id="{75DE8495-3729-4D4E-A61F-276612E0146B}"/>
              </a:ext>
            </a:extLst>
          </p:cNvPr>
          <p:cNvSpPr>
            <a:spLocks xmlns:a="http://schemas.openxmlformats.org/drawingml/2006/main" noGrp="1"/>
          </p:cNvSpPr>
          <p:nvPr/>
        </p:nvSpPr>
        <p:spPr>
          <a:xfrm xmlns:a="http://schemas.openxmlformats.org/drawingml/2006/main">
            <a:off x="685800" y="3543300"/>
            <a:ext cx="49339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User submits a request.</a:t>
            </a:r>
          </a:p>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Transaction connects it to a physical unit.</a:t>
            </a:r>
          </a:p>
        </p:txBody>
      </p:sp>
      <p:sp>
        <p:nvSpPr>
          <p:cNvPr id="7" name="">
            <a:extLst xmlns:a="http://schemas.openxmlformats.org/drawingml/2006/main">
              <a:ext uri="{FF2B5EF4-FFF2-40B4-BE49-F238E27FC236}">
                <a16:creationId xmlns:a16="http://schemas.microsoft.com/office/drawing/2014/main" id="{BAA908FB-4A96-4EDF-9C96-7342A19D8C90}"/>
              </a:ext>
            </a:extLst>
          </p:cNvPr>
          <p:cNvSpPr>
            <a:spLocks xmlns:a="http://schemas.openxmlformats.org/drawingml/2006/main" noGrp="1"/>
          </p:cNvSpPr>
          <p:nvPr/>
        </p:nvSpPr>
        <p:spPr>
          <a:xfrm xmlns:a="http://schemas.openxmlformats.org/drawingml/2006/main">
            <a:off x="6515100" y="1762125"/>
            <a:ext cx="4991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Event relationship</a:t>
            </a:r>
          </a:p>
        </p:txBody>
      </p:sp>
      <p:sp>
        <p:nvSpPr>
          <p:cNvPr id="8" name="">
            <a:extLst xmlns:a="http://schemas.openxmlformats.org/drawingml/2006/main">
              <a:ext uri="{FF2B5EF4-FFF2-40B4-BE49-F238E27FC236}">
                <a16:creationId xmlns:a16="http://schemas.microsoft.com/office/drawing/2014/main" id="{3F1551EE-AC34-4BCD-A304-123890C93124}"/>
              </a:ext>
            </a:extLst>
          </p:cNvPr>
          <p:cNvSpPr>
            <a:spLocks xmlns:a="http://schemas.openxmlformats.org/drawingml/2006/main" noGrp="1"/>
          </p:cNvSpPr>
          <p:nvPr/>
        </p:nvSpPr>
        <p:spPr>
          <a:xfrm xmlns:a="http://schemas.openxmlformats.org/drawingml/2006/main">
            <a:off x="6515100" y="2162175"/>
            <a:ext cx="4991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Event request captures faculty demand.</a:t>
            </a:r>
          </a:p>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Event issue links the approved batch loans.</a:t>
            </a:r>
          </a:p>
        </p:txBody>
      </p:sp>
      <p:sp>
        <p:nvSpPr>
          <p:cNvPr id="9" name="">
            <a:extLst xmlns:a="http://schemas.openxmlformats.org/drawingml/2006/main">
              <a:ext uri="{FF2B5EF4-FFF2-40B4-BE49-F238E27FC236}">
                <a16:creationId xmlns:a16="http://schemas.microsoft.com/office/drawing/2014/main" id="{FC241525-3E86-4ADB-8A23-A7882EDC4655}"/>
              </a:ext>
            </a:extLst>
          </p:cNvPr>
          <p:cNvSpPr>
            <a:spLocks xmlns:a="http://schemas.openxmlformats.org/drawingml/2006/main" noGrp="1"/>
          </p:cNvSpPr>
          <p:nvPr/>
        </p:nvSpPr>
        <p:spPr>
          <a:xfrm xmlns:a="http://schemas.openxmlformats.org/drawingml/2006/main">
            <a:off x="6515100" y="3143250"/>
            <a:ext cx="4991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Supporting records</a:t>
            </a:r>
          </a:p>
        </p:txBody>
      </p:sp>
      <p:sp>
        <p:nvSpPr>
          <p:cNvPr id="10" name="">
            <a:extLst xmlns:a="http://schemas.openxmlformats.org/drawingml/2006/main">
              <a:ext uri="{FF2B5EF4-FFF2-40B4-BE49-F238E27FC236}">
                <a16:creationId xmlns:a16="http://schemas.microsoft.com/office/drawing/2014/main" id="{42190337-DD65-4CC6-A489-ED03D743FDE7}"/>
              </a:ext>
            </a:extLst>
          </p:cNvPr>
          <p:cNvSpPr>
            <a:spLocks xmlns:a="http://schemas.openxmlformats.org/drawingml/2006/main" noGrp="1"/>
          </p:cNvSpPr>
          <p:nvPr/>
        </p:nvSpPr>
        <p:spPr>
          <a:xfrm xmlns:a="http://schemas.openxmlformats.org/drawingml/2006/main">
            <a:off x="6515100" y="3543300"/>
            <a:ext cx="4991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Lab assignments, transfers, notifications and import batches preserve context.</a:t>
            </a:r>
          </a:p>
        </p:txBody>
      </p:sp>
    </p:spTree>
    <p:extLst>
      <p:ext uri="{BB962C8B-B14F-4D97-AF65-F5344CB8AC3E}">
        <p14:creationId xmlns:p14="http://schemas.microsoft.com/office/powerpoint/2010/main" val="237166160"/>
      </p:ext>
    </p:extLst>
  </p:cSld>
</p:sld>
</file>

<file path=ppt/slides/slide14.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4F8C46A-EB78-4C48-9679-AC99D1DEDE70}"/>
              </a:ext>
            </a:extLst>
          </p:cNvPr>
          <p:cNvSpPr>
            <a:spLocks xmlns:a="http://schemas.openxmlformats.org/drawingml/2006/main" noGrp="1"/>
          </p:cNvSpPr>
          <p:nvPr/>
        </p:nvSpPr>
        <p:spPr>
          <a:xfrm xmlns:a="http://schemas.openxmlformats.org/drawingml/2006/main">
            <a:off x="685800" y="495300"/>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82B46"/>
                </a:solidFill>
                <a:latin typeface="Arial"/>
                <a:ea typeface="Arial"/>
                <a:cs typeface="Arial"/>
              </a:defRPr>
            </a:pPr>
            <a:r>
              <a:rPr sz="3450" b="1">
                <a:solidFill>
                  <a:srgbClr val="182B46"/>
                </a:solidFill>
                <a:latin typeface="Arial"/>
                <a:ea typeface="Arial"/>
                <a:cs typeface="Arial"/>
              </a:rPr>
              <a:t>Permissions and data integrity</a:t>
            </a:r>
          </a:p>
        </p:txBody>
      </p:sp>
      <p:sp>
        <p:nvSpPr>
          <p:cNvPr id="2" name="">
            <a:extLst xmlns:a="http://schemas.openxmlformats.org/drawingml/2006/main">
              <a:ext uri="{FF2B5EF4-FFF2-40B4-BE49-F238E27FC236}">
                <a16:creationId xmlns:a16="http://schemas.microsoft.com/office/drawing/2014/main" id="{A53602C8-54A3-4A36-B9AA-4FC5506C5AA5}"/>
              </a:ext>
            </a:extLst>
          </p:cNvPr>
          <p:cNvSpPr>
            <a:spLocks xmlns:a="http://schemas.openxmlformats.org/drawingml/2006/main" noGrp="1"/>
          </p:cNvSpPr>
          <p:nvPr/>
        </p:nvSpPr>
        <p:spPr>
          <a:xfrm xmlns:a="http://schemas.openxmlformats.org/drawingml/2006/main">
            <a:off x="11144250" y="63055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47B"/>
                </a:solidFill>
                <a:latin typeface="Arial"/>
                <a:ea typeface="Arial"/>
                <a:cs typeface="Arial"/>
              </a:defRPr>
            </a:pPr>
            <a:r>
              <a:rPr sz="1350" b="0">
                <a:solidFill>
                  <a:srgbClr val="52647B"/>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59C187FE-8593-4D36-9618-73CF269BE735}"/>
              </a:ext>
            </a:extLst>
          </p:cNvPr>
          <p:cNvSpPr>
            <a:spLocks xmlns:a="http://schemas.openxmlformats.org/drawingml/2006/main" noGrp="1"/>
          </p:cNvSpPr>
          <p:nvPr/>
        </p:nvSpPr>
        <p:spPr>
          <a:xfrm xmlns:a="http://schemas.openxmlformats.org/drawingml/2006/main">
            <a:off x="685800" y="176212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Account access</a:t>
            </a:r>
          </a:p>
        </p:txBody>
      </p:sp>
      <p:sp>
        <p:nvSpPr>
          <p:cNvPr id="4" name="">
            <a:extLst xmlns:a="http://schemas.openxmlformats.org/drawingml/2006/main">
              <a:ext uri="{FF2B5EF4-FFF2-40B4-BE49-F238E27FC236}">
                <a16:creationId xmlns:a16="http://schemas.microsoft.com/office/drawing/2014/main" id="{5D69CA18-745D-4A2E-86D4-676E5477989C}"/>
              </a:ext>
            </a:extLst>
          </p:cNvPr>
          <p:cNvSpPr>
            <a:spLocks xmlns:a="http://schemas.openxmlformats.org/drawingml/2006/main" noGrp="1"/>
          </p:cNvSpPr>
          <p:nvPr/>
        </p:nvSpPr>
        <p:spPr>
          <a:xfrm xmlns:a="http://schemas.openxmlformats.org/drawingml/2006/main">
            <a:off x="685800" y="2162175"/>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Password hashing, expiring JWT sessions and active-account checks</a:t>
            </a:r>
          </a:p>
        </p:txBody>
      </p:sp>
      <p:sp>
        <p:nvSpPr>
          <p:cNvPr id="5" name="">
            <a:extLst xmlns:a="http://schemas.openxmlformats.org/drawingml/2006/main">
              <a:ext uri="{FF2B5EF4-FFF2-40B4-BE49-F238E27FC236}">
                <a16:creationId xmlns:a16="http://schemas.microsoft.com/office/drawing/2014/main" id="{3AB8A3AF-B2AF-4BA7-B2EC-DAA0620C359F}"/>
              </a:ext>
            </a:extLst>
          </p:cNvPr>
          <p:cNvSpPr>
            <a:spLocks xmlns:a="http://schemas.openxmlformats.org/drawingml/2006/main" noGrp="1"/>
          </p:cNvSpPr>
          <p:nvPr/>
        </p:nvSpPr>
        <p:spPr>
          <a:xfrm xmlns:a="http://schemas.openxmlformats.org/drawingml/2006/main">
            <a:off x="685800" y="28194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Operation scope</a:t>
            </a:r>
          </a:p>
        </p:txBody>
      </p:sp>
      <p:sp>
        <p:nvSpPr>
          <p:cNvPr id="6" name="">
            <a:extLst xmlns:a="http://schemas.openxmlformats.org/drawingml/2006/main">
              <a:ext uri="{FF2B5EF4-FFF2-40B4-BE49-F238E27FC236}">
                <a16:creationId xmlns:a16="http://schemas.microsoft.com/office/drawing/2014/main" id="{73787128-DAFE-4862-88AF-C8D69424FF91}"/>
              </a:ext>
            </a:extLst>
          </p:cNvPr>
          <p:cNvSpPr>
            <a:spLocks xmlns:a="http://schemas.openxmlformats.org/drawingml/2006/main" noGrp="1"/>
          </p:cNvSpPr>
          <p:nvPr/>
        </p:nvSpPr>
        <p:spPr>
          <a:xfrm xmlns:a="http://schemas.openxmlformats.org/drawingml/2006/main">
            <a:off x="685800" y="32194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Backend role permissions and assigned-lab checks</a:t>
            </a:r>
          </a:p>
        </p:txBody>
      </p:sp>
      <p:sp>
        <p:nvSpPr>
          <p:cNvPr id="7" name="">
            <a:extLst xmlns:a="http://schemas.openxmlformats.org/drawingml/2006/main">
              <a:ext uri="{FF2B5EF4-FFF2-40B4-BE49-F238E27FC236}">
                <a16:creationId xmlns:a16="http://schemas.microsoft.com/office/drawing/2014/main" id="{2370CCAC-4147-4190-90ED-1834D7C81BD1}"/>
              </a:ext>
            </a:extLst>
          </p:cNvPr>
          <p:cNvSpPr>
            <a:spLocks xmlns:a="http://schemas.openxmlformats.org/drawingml/2006/main" noGrp="1"/>
          </p:cNvSpPr>
          <p:nvPr/>
        </p:nvSpPr>
        <p:spPr>
          <a:xfrm xmlns:a="http://schemas.openxmlformats.org/drawingml/2006/main">
            <a:off x="685800" y="38766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Asset consistency</a:t>
            </a:r>
          </a:p>
        </p:txBody>
      </p:sp>
      <p:sp>
        <p:nvSpPr>
          <p:cNvPr id="8" name="">
            <a:extLst xmlns:a="http://schemas.openxmlformats.org/drawingml/2006/main">
              <a:ext uri="{FF2B5EF4-FFF2-40B4-BE49-F238E27FC236}">
                <a16:creationId xmlns:a16="http://schemas.microsoft.com/office/drawing/2014/main" id="{C190D321-D1B4-4A47-9AAC-993860AACCF7}"/>
              </a:ext>
            </a:extLst>
          </p:cNvPr>
          <p:cNvSpPr>
            <a:spLocks xmlns:a="http://schemas.openxmlformats.org/drawingml/2006/main" noGrp="1"/>
          </p:cNvSpPr>
          <p:nvPr/>
        </p:nvSpPr>
        <p:spPr>
          <a:xfrm xmlns:a="http://schemas.openxmlformats.org/drawingml/2006/main">
            <a:off x="685800" y="4276725"/>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Unique asset tags and one active loan per physical unit</a:t>
            </a:r>
          </a:p>
        </p:txBody>
      </p:sp>
      <p:sp>
        <p:nvSpPr>
          <p:cNvPr id="9" name="">
            <a:extLst xmlns:a="http://schemas.openxmlformats.org/drawingml/2006/main">
              <a:ext uri="{FF2B5EF4-FFF2-40B4-BE49-F238E27FC236}">
                <a16:creationId xmlns:a16="http://schemas.microsoft.com/office/drawing/2014/main" id="{4C36BC68-46BF-4B7C-A411-F06FDFD0AD3B}"/>
              </a:ext>
            </a:extLst>
          </p:cNvPr>
          <p:cNvSpPr>
            <a:spLocks xmlns:a="http://schemas.openxmlformats.org/drawingml/2006/main" noGrp="1"/>
          </p:cNvSpPr>
          <p:nvPr/>
        </p:nvSpPr>
        <p:spPr>
          <a:xfrm xmlns:a="http://schemas.openxmlformats.org/drawingml/2006/main">
            <a:off x="685800" y="493395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Event allocation</a:t>
            </a:r>
          </a:p>
        </p:txBody>
      </p:sp>
      <p:sp>
        <p:nvSpPr>
          <p:cNvPr id="10" name="">
            <a:extLst xmlns:a="http://schemas.openxmlformats.org/drawingml/2006/main">
              <a:ext uri="{FF2B5EF4-FFF2-40B4-BE49-F238E27FC236}">
                <a16:creationId xmlns:a16="http://schemas.microsoft.com/office/drawing/2014/main" id="{B57876A7-29A0-4AE7-B51A-C4DDBE35A06C}"/>
              </a:ext>
            </a:extLst>
          </p:cNvPr>
          <p:cNvSpPr>
            <a:spLocks xmlns:a="http://schemas.openxmlformats.org/drawingml/2006/main" noGrp="1"/>
          </p:cNvSpPr>
          <p:nvPr/>
        </p:nvSpPr>
        <p:spPr>
          <a:xfrm xmlns:a="http://schemas.openxmlformats.org/drawingml/2006/main">
            <a:off x="685800" y="53340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Row locks and a single commit protect batch approval and issue.</a:t>
            </a:r>
          </a:p>
        </p:txBody>
      </p:sp>
    </p:spTree>
    <p:extLst>
      <p:ext uri="{BB962C8B-B14F-4D97-AF65-F5344CB8AC3E}">
        <p14:creationId xmlns:p14="http://schemas.microsoft.com/office/powerpoint/2010/main" val="1672521383"/>
      </p:ext>
    </p:extLst>
  </p:cSld>
</p:sld>
</file>

<file path=ppt/slides/slide15.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6507527-8CF3-4B9B-9EBE-E59CADE7421B}"/>
              </a:ext>
            </a:extLst>
          </p:cNvPr>
          <p:cNvSpPr>
            <a:spLocks xmlns:a="http://schemas.openxmlformats.org/drawingml/2006/main" noGrp="1"/>
          </p:cNvSpPr>
          <p:nvPr/>
        </p:nvSpPr>
        <p:spPr>
          <a:xfrm xmlns:a="http://schemas.openxmlformats.org/drawingml/2006/main">
            <a:off x="685800" y="495300"/>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82B46"/>
                </a:solidFill>
                <a:latin typeface="Arial"/>
                <a:ea typeface="Arial"/>
                <a:cs typeface="Arial"/>
              </a:defRPr>
            </a:pPr>
            <a:r>
              <a:rPr sz="3450" b="1">
                <a:solidFill>
                  <a:srgbClr val="182B46"/>
                </a:solidFill>
                <a:latin typeface="Arial"/>
                <a:ea typeface="Arial"/>
                <a:cs typeface="Arial"/>
              </a:rPr>
              <a:t>Transaction history and notifications</a:t>
            </a:r>
          </a:p>
        </p:txBody>
      </p:sp>
      <p:sp>
        <p:nvSpPr>
          <p:cNvPr id="2" name="">
            <a:extLst xmlns:a="http://schemas.openxmlformats.org/drawingml/2006/main">
              <a:ext uri="{FF2B5EF4-FFF2-40B4-BE49-F238E27FC236}">
                <a16:creationId xmlns:a16="http://schemas.microsoft.com/office/drawing/2014/main" id="{CFA589FB-9C4A-4828-9EDC-D7E84F5C2B6C}"/>
              </a:ext>
            </a:extLst>
          </p:cNvPr>
          <p:cNvSpPr>
            <a:spLocks xmlns:a="http://schemas.openxmlformats.org/drawingml/2006/main" noGrp="1"/>
          </p:cNvSpPr>
          <p:nvPr/>
        </p:nvSpPr>
        <p:spPr>
          <a:xfrm xmlns:a="http://schemas.openxmlformats.org/drawingml/2006/main">
            <a:off x="11144250" y="63055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47B"/>
                </a:solidFill>
                <a:latin typeface="Arial"/>
                <a:ea typeface="Arial"/>
                <a:cs typeface="Arial"/>
              </a:defRPr>
            </a:pPr>
            <a:r>
              <a:rPr sz="1350" b="0">
                <a:solidFill>
                  <a:srgbClr val="52647B"/>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C22C78A7-11B9-472A-A974-F63050B2F7FF}"/>
              </a:ext>
            </a:extLst>
          </p:cNvPr>
          <p:cNvSpPr>
            <a:spLocks xmlns:a="http://schemas.openxmlformats.org/drawingml/2006/main" noGrp="1"/>
          </p:cNvSpPr>
          <p:nvPr/>
        </p:nvSpPr>
        <p:spPr>
          <a:xfrm xmlns:a="http://schemas.openxmlformats.org/drawingml/2006/main">
            <a:off x="685800" y="1762125"/>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Traceable loans</a:t>
            </a:r>
          </a:p>
        </p:txBody>
      </p:sp>
      <p:sp>
        <p:nvSpPr>
          <p:cNvPr id="4" name="">
            <a:extLst xmlns:a="http://schemas.openxmlformats.org/drawingml/2006/main">
              <a:ext uri="{FF2B5EF4-FFF2-40B4-BE49-F238E27FC236}">
                <a16:creationId xmlns:a16="http://schemas.microsoft.com/office/drawing/2014/main" id="{47EE4B84-6CB8-48B6-9164-F5C01AB8DC20}"/>
              </a:ext>
            </a:extLst>
          </p:cNvPr>
          <p:cNvSpPr>
            <a:spLocks xmlns:a="http://schemas.openxmlformats.org/drawingml/2006/main" noGrp="1"/>
          </p:cNvSpPr>
          <p:nvPr/>
        </p:nvSpPr>
        <p:spPr>
          <a:xfrm xmlns:a="http://schemas.openxmlformats.org/drawingml/2006/main">
            <a:off x="685800" y="2162175"/>
            <a:ext cx="371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Asset, borrower, lab and loan dates stay linked.</a:t>
            </a:r>
          </a:p>
        </p:txBody>
      </p:sp>
      <p:sp>
        <p:nvSpPr>
          <p:cNvPr id="5" name="">
            <a:extLst xmlns:a="http://schemas.openxmlformats.org/drawingml/2006/main">
              <a:ext uri="{FF2B5EF4-FFF2-40B4-BE49-F238E27FC236}">
                <a16:creationId xmlns:a16="http://schemas.microsoft.com/office/drawing/2014/main" id="{AD30718F-03EE-4AB1-9B10-32D728401434}"/>
              </a:ext>
            </a:extLst>
          </p:cNvPr>
          <p:cNvSpPr>
            <a:spLocks xmlns:a="http://schemas.openxmlformats.org/drawingml/2006/main" noGrp="1"/>
          </p:cNvSpPr>
          <p:nvPr/>
        </p:nvSpPr>
        <p:spPr>
          <a:xfrm xmlns:a="http://schemas.openxmlformats.org/drawingml/2006/main">
            <a:off x="685800" y="3114675"/>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Portal updates</a:t>
            </a:r>
          </a:p>
        </p:txBody>
      </p:sp>
      <p:sp>
        <p:nvSpPr>
          <p:cNvPr id="6" name="">
            <a:extLst xmlns:a="http://schemas.openxmlformats.org/drawingml/2006/main">
              <a:ext uri="{FF2B5EF4-FFF2-40B4-BE49-F238E27FC236}">
                <a16:creationId xmlns:a16="http://schemas.microsoft.com/office/drawing/2014/main" id="{E2FF972D-5CF4-4E28-9907-067A0EB829D5}"/>
              </a:ext>
            </a:extLst>
          </p:cNvPr>
          <p:cNvSpPr>
            <a:spLocks xmlns:a="http://schemas.openxmlformats.org/drawingml/2006/main" noGrp="1"/>
          </p:cNvSpPr>
          <p:nvPr/>
        </p:nvSpPr>
        <p:spPr>
          <a:xfrm xmlns:a="http://schemas.openxmlformats.org/drawingml/2006/main">
            <a:off x="685800" y="3514725"/>
            <a:ext cx="371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Workflow notifications explain status changes.</a:t>
            </a:r>
          </a:p>
        </p:txBody>
      </p:sp>
      <p:sp>
        <p:nvSpPr>
          <p:cNvPr id="7" name="">
            <a:extLst xmlns:a="http://schemas.openxmlformats.org/drawingml/2006/main">
              <a:ext uri="{FF2B5EF4-FFF2-40B4-BE49-F238E27FC236}">
                <a16:creationId xmlns:a16="http://schemas.microsoft.com/office/drawing/2014/main" id="{F11DB842-0977-4365-A7B7-B4F45761A5F8}"/>
              </a:ext>
            </a:extLst>
          </p:cNvPr>
          <p:cNvSpPr>
            <a:spLocks xmlns:a="http://schemas.openxmlformats.org/drawingml/2006/main" noGrp="1"/>
          </p:cNvSpPr>
          <p:nvPr/>
        </p:nvSpPr>
        <p:spPr>
          <a:xfrm xmlns:a="http://schemas.openxmlformats.org/drawingml/2006/main">
            <a:off x="685800" y="4467225"/>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Optional email</a:t>
            </a:r>
          </a:p>
        </p:txBody>
      </p:sp>
      <p:sp>
        <p:nvSpPr>
          <p:cNvPr id="8" name="">
            <a:extLst xmlns:a="http://schemas.openxmlformats.org/drawingml/2006/main">
              <a:ext uri="{FF2B5EF4-FFF2-40B4-BE49-F238E27FC236}">
                <a16:creationId xmlns:a16="http://schemas.microsoft.com/office/drawing/2014/main" id="{3113AEB4-4AF8-4D94-82CC-C404AAB19A59}"/>
              </a:ext>
            </a:extLst>
          </p:cNvPr>
          <p:cNvSpPr>
            <a:spLocks xmlns:a="http://schemas.openxmlformats.org/drawingml/2006/main" noGrp="1"/>
          </p:cNvSpPr>
          <p:nvPr/>
        </p:nvSpPr>
        <p:spPr>
          <a:xfrm xmlns:a="http://schemas.openxmlformats.org/drawingml/2006/main">
            <a:off x="685800" y="4867275"/>
            <a:ext cx="371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Queued delivery needs provider setup and authorization.</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546c6a42bf6647cb"/>
          <a:stretch xmlns:a="http://schemas.openxmlformats.org/drawingml/2006/main"/>
        </p:blipFill>
        <p:spPr>
          <a:xfrm xmlns:a="http://schemas.openxmlformats.org/drawingml/2006/main">
            <a:off x="4857750" y="1903750"/>
            <a:ext cx="6648450" cy="3488649"/>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B99B4000-5522-443C-9886-30AA4F65CB9B}"/>
              </a:ext>
            </a:extLst>
          </p:cNvPr>
          <p:cNvSpPr>
            <a:spLocks xmlns:a="http://schemas.openxmlformats.org/drawingml/2006/main" noGrp="1"/>
          </p:cNvSpPr>
          <p:nvPr/>
        </p:nvSpPr>
        <p:spPr>
          <a:xfrm xmlns:a="http://schemas.openxmlformats.org/drawingml/2006/main">
            <a:off x="4857750" y="5667375"/>
            <a:ext cx="66484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b="0">
                <a:solidFill>
                  <a:srgbClr val="52647B"/>
                </a:solidFill>
                <a:latin typeface="Arial"/>
                <a:ea typeface="Arial"/>
                <a:cs typeface="Arial"/>
              </a:defRPr>
            </a:pPr>
            <a:r>
              <a:rPr sz="1575" b="0">
                <a:solidFill>
                  <a:srgbClr val="52647B"/>
                </a:solidFill>
                <a:latin typeface="Arial"/>
                <a:ea typeface="Arial"/>
                <a:cs typeface="Arial"/>
              </a:rPr>
              <a:t>Project verification screenshot: equipment checkout history</a:t>
            </a:r>
          </a:p>
        </p:txBody>
      </p:sp>
    </p:spTree>
    <p:extLst>
      <p:ext uri="{BB962C8B-B14F-4D97-AF65-F5344CB8AC3E}">
        <p14:creationId xmlns:p14="http://schemas.microsoft.com/office/powerpoint/2010/main" val="765798272"/>
      </p:ext>
    </p:extLst>
  </p:cSld>
</p:sld>
</file>

<file path=ppt/slides/slide16.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1A26862-4205-44DA-A6F3-F14949AACB2D}"/>
              </a:ext>
            </a:extLst>
          </p:cNvPr>
          <p:cNvSpPr>
            <a:spLocks xmlns:a="http://schemas.openxmlformats.org/drawingml/2006/main" noGrp="1"/>
          </p:cNvSpPr>
          <p:nvPr/>
        </p:nvSpPr>
        <p:spPr>
          <a:xfrm xmlns:a="http://schemas.openxmlformats.org/drawingml/2006/main">
            <a:off x="685800" y="495300"/>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82B46"/>
                </a:solidFill>
                <a:latin typeface="Arial"/>
                <a:ea typeface="Arial"/>
                <a:cs typeface="Arial"/>
              </a:defRPr>
            </a:pPr>
            <a:r>
              <a:rPr sz="3450" b="1">
                <a:solidFill>
                  <a:srgbClr val="182B46"/>
                </a:solidFill>
                <a:latin typeface="Arial"/>
                <a:ea typeface="Arial"/>
                <a:cs typeface="Arial"/>
              </a:rPr>
              <a:t>Reports and procurement suggestions</a:t>
            </a:r>
          </a:p>
        </p:txBody>
      </p:sp>
      <p:sp>
        <p:nvSpPr>
          <p:cNvPr id="2" name="">
            <a:extLst xmlns:a="http://schemas.openxmlformats.org/drawingml/2006/main">
              <a:ext uri="{FF2B5EF4-FFF2-40B4-BE49-F238E27FC236}">
                <a16:creationId xmlns:a16="http://schemas.microsoft.com/office/drawing/2014/main" id="{8F6F1CAA-856F-45B3-9188-58467C22375F}"/>
              </a:ext>
            </a:extLst>
          </p:cNvPr>
          <p:cNvSpPr>
            <a:spLocks xmlns:a="http://schemas.openxmlformats.org/drawingml/2006/main" noGrp="1"/>
          </p:cNvSpPr>
          <p:nvPr/>
        </p:nvSpPr>
        <p:spPr>
          <a:xfrm xmlns:a="http://schemas.openxmlformats.org/drawingml/2006/main">
            <a:off x="11144250" y="63055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47B"/>
                </a:solidFill>
                <a:latin typeface="Arial"/>
                <a:ea typeface="Arial"/>
                <a:cs typeface="Arial"/>
              </a:defRPr>
            </a:pPr>
            <a:r>
              <a:rPr sz="1350" b="0">
                <a:solidFill>
                  <a:srgbClr val="52647B"/>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6016F16D-39D8-4EAC-AEA9-207E2E9E904A}"/>
              </a:ext>
            </a:extLst>
          </p:cNvPr>
          <p:cNvSpPr>
            <a:spLocks xmlns:a="http://schemas.openxmlformats.org/drawingml/2006/main" noGrp="1"/>
          </p:cNvSpPr>
          <p:nvPr/>
        </p:nvSpPr>
        <p:spPr>
          <a:xfrm xmlns:a="http://schemas.openxmlformats.org/drawingml/2006/main">
            <a:off x="685800" y="1762125"/>
            <a:ext cx="4933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Operational reports</a:t>
            </a:r>
          </a:p>
        </p:txBody>
      </p:sp>
      <p:sp>
        <p:nvSpPr>
          <p:cNvPr id="4" name="">
            <a:extLst xmlns:a="http://schemas.openxmlformats.org/drawingml/2006/main">
              <a:ext uri="{FF2B5EF4-FFF2-40B4-BE49-F238E27FC236}">
                <a16:creationId xmlns:a16="http://schemas.microsoft.com/office/drawing/2014/main" id="{A4583720-E0B0-41B0-A4F9-D2D4A757991C}"/>
              </a:ext>
            </a:extLst>
          </p:cNvPr>
          <p:cNvSpPr>
            <a:spLocks xmlns:a="http://schemas.openxmlformats.org/drawingml/2006/main" noGrp="1"/>
          </p:cNvSpPr>
          <p:nvPr/>
        </p:nvSpPr>
        <p:spPr>
          <a:xfrm xmlns:a="http://schemas.openxmlformats.org/drawingml/2006/main">
            <a:off x="685800" y="2162175"/>
            <a:ext cx="49339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Available, issued and maintenance stock</a:t>
            </a:r>
          </a:p>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Active loans and overdue loans</a:t>
            </a:r>
          </a:p>
        </p:txBody>
      </p:sp>
      <p:sp>
        <p:nvSpPr>
          <p:cNvPr id="5" name="">
            <a:extLst xmlns:a="http://schemas.openxmlformats.org/drawingml/2006/main">
              <a:ext uri="{FF2B5EF4-FFF2-40B4-BE49-F238E27FC236}">
                <a16:creationId xmlns:a16="http://schemas.microsoft.com/office/drawing/2014/main" id="{4DE75BFA-4EF7-4218-8F1C-24A9FF499470}"/>
              </a:ext>
            </a:extLst>
          </p:cNvPr>
          <p:cNvSpPr>
            <a:spLocks xmlns:a="http://schemas.openxmlformats.org/drawingml/2006/main" noGrp="1"/>
          </p:cNvSpPr>
          <p:nvPr/>
        </p:nvSpPr>
        <p:spPr>
          <a:xfrm xmlns:a="http://schemas.openxmlformats.org/drawingml/2006/main">
            <a:off x="685800" y="3143250"/>
            <a:ext cx="4933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Usage reports</a:t>
            </a:r>
          </a:p>
        </p:txBody>
      </p:sp>
      <p:sp>
        <p:nvSpPr>
          <p:cNvPr id="6" name="">
            <a:extLst xmlns:a="http://schemas.openxmlformats.org/drawingml/2006/main">
              <a:ext uri="{FF2B5EF4-FFF2-40B4-BE49-F238E27FC236}">
                <a16:creationId xmlns:a16="http://schemas.microsoft.com/office/drawing/2014/main" id="{A0806275-00B6-473E-8400-4A77DF7CD33B}"/>
              </a:ext>
            </a:extLst>
          </p:cNvPr>
          <p:cNvSpPr>
            <a:spLocks xmlns:a="http://schemas.openxmlformats.org/drawingml/2006/main" noGrp="1"/>
          </p:cNvSpPr>
          <p:nvPr/>
        </p:nvSpPr>
        <p:spPr>
          <a:xfrm xmlns:a="http://schemas.openxmlformats.org/drawingml/2006/main">
            <a:off x="685800" y="3543300"/>
            <a:ext cx="49339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Monthly borrowing trends</a:t>
            </a:r>
          </a:p>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Lab utilization and most-used equipment</a:t>
            </a:r>
          </a:p>
        </p:txBody>
      </p:sp>
      <p:sp>
        <p:nvSpPr>
          <p:cNvPr id="7" name="">
            <a:extLst xmlns:a="http://schemas.openxmlformats.org/drawingml/2006/main">
              <a:ext uri="{FF2B5EF4-FFF2-40B4-BE49-F238E27FC236}">
                <a16:creationId xmlns:a16="http://schemas.microsoft.com/office/drawing/2014/main" id="{2DE78863-2DB3-4B70-A61E-446750348805}"/>
              </a:ext>
            </a:extLst>
          </p:cNvPr>
          <p:cNvSpPr>
            <a:spLocks xmlns:a="http://schemas.openxmlformats.org/drawingml/2006/main" noGrp="1"/>
          </p:cNvSpPr>
          <p:nvPr/>
        </p:nvSpPr>
        <p:spPr>
          <a:xfrm xmlns:a="http://schemas.openxmlformats.org/drawingml/2006/main">
            <a:off x="6515100" y="1762125"/>
            <a:ext cx="4991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Purchase prompts</a:t>
            </a:r>
          </a:p>
        </p:txBody>
      </p:sp>
      <p:sp>
        <p:nvSpPr>
          <p:cNvPr id="8" name="">
            <a:extLst xmlns:a="http://schemas.openxmlformats.org/drawingml/2006/main">
              <a:ext uri="{FF2B5EF4-FFF2-40B4-BE49-F238E27FC236}">
                <a16:creationId xmlns:a16="http://schemas.microsoft.com/office/drawing/2014/main" id="{A8C08EA0-7301-4215-9790-E1EAB6CFEC0F}"/>
              </a:ext>
            </a:extLst>
          </p:cNvPr>
          <p:cNvSpPr>
            <a:spLocks xmlns:a="http://schemas.openxmlformats.org/drawingml/2006/main" noGrp="1"/>
          </p:cNvSpPr>
          <p:nvPr/>
        </p:nvSpPr>
        <p:spPr>
          <a:xfrm xmlns:a="http://schemas.openxmlformats.org/drawingml/2006/main">
            <a:off x="6515100" y="2162175"/>
            <a:ext cx="4991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Empty stock, high utilization or pending demand trigger suggestions.</a:t>
            </a:r>
          </a:p>
        </p:txBody>
      </p:sp>
      <p:sp>
        <p:nvSpPr>
          <p:cNvPr id="9" name="">
            <a:extLst xmlns:a="http://schemas.openxmlformats.org/drawingml/2006/main">
              <a:ext uri="{FF2B5EF4-FFF2-40B4-BE49-F238E27FC236}">
                <a16:creationId xmlns:a16="http://schemas.microsoft.com/office/drawing/2014/main" id="{3978B408-E415-4F69-9B31-CBF5EF2BC3DA}"/>
              </a:ext>
            </a:extLst>
          </p:cNvPr>
          <p:cNvSpPr>
            <a:spLocks xmlns:a="http://schemas.openxmlformats.org/drawingml/2006/main" noGrp="1"/>
          </p:cNvSpPr>
          <p:nvPr/>
        </p:nvSpPr>
        <p:spPr>
          <a:xfrm xmlns:a="http://schemas.openxmlformats.org/drawingml/2006/main">
            <a:off x="6515100" y="3143250"/>
            <a:ext cx="4991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Current method</a:t>
            </a:r>
          </a:p>
        </p:txBody>
      </p:sp>
      <p:sp>
        <p:nvSpPr>
          <p:cNvPr id="10" name="">
            <a:extLst xmlns:a="http://schemas.openxmlformats.org/drawingml/2006/main">
              <a:ext uri="{FF2B5EF4-FFF2-40B4-BE49-F238E27FC236}">
                <a16:creationId xmlns:a16="http://schemas.microsoft.com/office/drawing/2014/main" id="{37651B94-55A9-47E2-9E29-D04EADCB4546}"/>
              </a:ext>
            </a:extLst>
          </p:cNvPr>
          <p:cNvSpPr>
            <a:spLocks xmlns:a="http://schemas.openxmlformats.org/drawingml/2006/main" noGrp="1"/>
          </p:cNvSpPr>
          <p:nvPr/>
        </p:nvSpPr>
        <p:spPr>
          <a:xfrm xmlns:a="http://schemas.openxmlformats.org/drawingml/2006/main">
            <a:off x="6515100" y="3543300"/>
            <a:ext cx="4991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Rules use stored counts.</a:t>
            </a:r>
          </a:p>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Administrators still make purchasing decisions.</a:t>
            </a:r>
          </a:p>
        </p:txBody>
      </p:sp>
    </p:spTree>
    <p:extLst>
      <p:ext uri="{BB962C8B-B14F-4D97-AF65-F5344CB8AC3E}">
        <p14:creationId xmlns:p14="http://schemas.microsoft.com/office/powerpoint/2010/main" val="202127353"/>
      </p:ext>
    </p:extLst>
  </p:cSld>
</p:sld>
</file>

<file path=ppt/slides/slide17.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9D9825A-CA77-466A-A5B0-D2E7F695D9CD}"/>
              </a:ext>
            </a:extLst>
          </p:cNvPr>
          <p:cNvSpPr>
            <a:spLocks xmlns:a="http://schemas.openxmlformats.org/drawingml/2006/main" noGrp="1"/>
          </p:cNvSpPr>
          <p:nvPr/>
        </p:nvSpPr>
        <p:spPr>
          <a:xfrm xmlns:a="http://schemas.openxmlformats.org/drawingml/2006/main">
            <a:off x="685800" y="495300"/>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82B46"/>
                </a:solidFill>
                <a:latin typeface="Arial"/>
                <a:ea typeface="Arial"/>
                <a:cs typeface="Arial"/>
              </a:defRPr>
            </a:pPr>
            <a:r>
              <a:rPr sz="3450" b="1">
                <a:solidFill>
                  <a:srgbClr val="182B46"/>
                </a:solidFill>
                <a:latin typeface="Arial"/>
                <a:ea typeface="Arial"/>
                <a:cs typeface="Arial"/>
              </a:rPr>
              <a:t>Current progress and remaining work</a:t>
            </a:r>
          </a:p>
        </p:txBody>
      </p:sp>
      <p:sp>
        <p:nvSpPr>
          <p:cNvPr id="2" name="">
            <a:extLst xmlns:a="http://schemas.openxmlformats.org/drawingml/2006/main">
              <a:ext uri="{FF2B5EF4-FFF2-40B4-BE49-F238E27FC236}">
                <a16:creationId xmlns:a16="http://schemas.microsoft.com/office/drawing/2014/main" id="{953695ED-6E48-437C-87AF-BB46CBA00204}"/>
              </a:ext>
            </a:extLst>
          </p:cNvPr>
          <p:cNvSpPr>
            <a:spLocks xmlns:a="http://schemas.openxmlformats.org/drawingml/2006/main" noGrp="1"/>
          </p:cNvSpPr>
          <p:nvPr/>
        </p:nvSpPr>
        <p:spPr>
          <a:xfrm xmlns:a="http://schemas.openxmlformats.org/drawingml/2006/main">
            <a:off x="11144250" y="63055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47B"/>
                </a:solidFill>
                <a:latin typeface="Arial"/>
                <a:ea typeface="Arial"/>
                <a:cs typeface="Arial"/>
              </a:defRPr>
            </a:pPr>
            <a:r>
              <a:rPr sz="1350" b="0">
                <a:solidFill>
                  <a:srgbClr val="52647B"/>
                </a:solidFill>
                <a:latin typeface="Arial"/>
                <a:ea typeface="Arial"/>
                <a:cs typeface="Arial"/>
              </a:rPr>
              <a:t>17</a:t>
            </a:r>
          </a:p>
        </p:txBody>
      </p:sp>
      <p:sp>
        <p:nvSpPr>
          <p:cNvPr id="3" name="">
            <a:extLst xmlns:a="http://schemas.openxmlformats.org/drawingml/2006/main">
              <a:ext uri="{FF2B5EF4-FFF2-40B4-BE49-F238E27FC236}">
                <a16:creationId xmlns:a16="http://schemas.microsoft.com/office/drawing/2014/main" id="{9E06186C-5F81-41DA-820C-D72BE0D5E6D8}"/>
              </a:ext>
            </a:extLst>
          </p:cNvPr>
          <p:cNvSpPr>
            <a:spLocks xmlns:a="http://schemas.openxmlformats.org/drawingml/2006/main" noGrp="1"/>
          </p:cNvSpPr>
          <p:nvPr/>
        </p:nvSpPr>
        <p:spPr>
          <a:xfrm xmlns:a="http://schemas.openxmlformats.org/drawingml/2006/main">
            <a:off x="685800" y="1762125"/>
            <a:ext cx="4933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Implemented in source</a:t>
            </a:r>
          </a:p>
        </p:txBody>
      </p:sp>
      <p:sp>
        <p:nvSpPr>
          <p:cNvPr id="4" name="">
            <a:extLst xmlns:a="http://schemas.openxmlformats.org/drawingml/2006/main">
              <a:ext uri="{FF2B5EF4-FFF2-40B4-BE49-F238E27FC236}">
                <a16:creationId xmlns:a16="http://schemas.microsoft.com/office/drawing/2014/main" id="{51F87B2B-AF10-4BDE-A92C-677EB1FF2489}"/>
              </a:ext>
            </a:extLst>
          </p:cNvPr>
          <p:cNvSpPr>
            <a:spLocks xmlns:a="http://schemas.openxmlformats.org/drawingml/2006/main" noGrp="1"/>
          </p:cNvSpPr>
          <p:nvPr/>
        </p:nvSpPr>
        <p:spPr>
          <a:xfrm xmlns:a="http://schemas.openxmlformats.org/drawingml/2006/main">
            <a:off x="685800" y="2162175"/>
            <a:ext cx="49339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Inventory and QR labels, borrowing, event approvals, reports and notifications</a:t>
            </a:r>
          </a:p>
        </p:txBody>
      </p:sp>
      <p:sp>
        <p:nvSpPr>
          <p:cNvPr id="5" name="">
            <a:extLst xmlns:a="http://schemas.openxmlformats.org/drawingml/2006/main">
              <a:ext uri="{FF2B5EF4-FFF2-40B4-BE49-F238E27FC236}">
                <a16:creationId xmlns:a16="http://schemas.microsoft.com/office/drawing/2014/main" id="{E08BCD93-4C5C-416B-AF39-A5EA0CF7A7DA}"/>
              </a:ext>
            </a:extLst>
          </p:cNvPr>
          <p:cNvSpPr>
            <a:spLocks xmlns:a="http://schemas.openxmlformats.org/drawingml/2006/main" noGrp="1"/>
          </p:cNvSpPr>
          <p:nvPr/>
        </p:nvSpPr>
        <p:spPr>
          <a:xfrm xmlns:a="http://schemas.openxmlformats.org/drawingml/2006/main">
            <a:off x="685800" y="3143250"/>
            <a:ext cx="4933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Recorded verification</a:t>
            </a:r>
          </a:p>
        </p:txBody>
      </p:sp>
      <p:sp>
        <p:nvSpPr>
          <p:cNvPr id="6" name="">
            <a:extLst xmlns:a="http://schemas.openxmlformats.org/drawingml/2006/main">
              <a:ext uri="{FF2B5EF4-FFF2-40B4-BE49-F238E27FC236}">
                <a16:creationId xmlns:a16="http://schemas.microsoft.com/office/drawing/2014/main" id="{40896B10-9219-4753-9F54-880FE2EE618D}"/>
              </a:ext>
            </a:extLst>
          </p:cNvPr>
          <p:cNvSpPr>
            <a:spLocks xmlns:a="http://schemas.openxmlformats.org/drawingml/2006/main" noGrp="1"/>
          </p:cNvSpPr>
          <p:nvPr/>
        </p:nvSpPr>
        <p:spPr>
          <a:xfrm xmlns:a="http://schemas.openxmlformats.org/drawingml/2006/main">
            <a:off x="685800" y="3543300"/>
            <a:ext cx="49339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API regressions, database migration checks, frontend build and selected browser flows</a:t>
            </a:r>
          </a:p>
        </p:txBody>
      </p:sp>
      <p:sp>
        <p:nvSpPr>
          <p:cNvPr id="7" name="">
            <a:extLst xmlns:a="http://schemas.openxmlformats.org/drawingml/2006/main">
              <a:ext uri="{FF2B5EF4-FFF2-40B4-BE49-F238E27FC236}">
                <a16:creationId xmlns:a16="http://schemas.microsoft.com/office/drawing/2014/main" id="{218C4771-750F-424D-8087-9F962098E1E4}"/>
              </a:ext>
            </a:extLst>
          </p:cNvPr>
          <p:cNvSpPr>
            <a:spLocks xmlns:a="http://schemas.openxmlformats.org/drawingml/2006/main" noGrp="1"/>
          </p:cNvSpPr>
          <p:nvPr/>
        </p:nvSpPr>
        <p:spPr>
          <a:xfrm xmlns:a="http://schemas.openxmlformats.org/drawingml/2006/main">
            <a:off x="6515100" y="1762125"/>
            <a:ext cx="4991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Workflow completion</a:t>
            </a:r>
          </a:p>
        </p:txBody>
      </p:sp>
      <p:sp>
        <p:nvSpPr>
          <p:cNvPr id="8" name="">
            <a:extLst xmlns:a="http://schemas.openxmlformats.org/drawingml/2006/main">
              <a:ext uri="{FF2B5EF4-FFF2-40B4-BE49-F238E27FC236}">
                <a16:creationId xmlns:a16="http://schemas.microsoft.com/office/drawing/2014/main" id="{FACC62A5-AA88-4588-8917-5BC3F329E3E7}"/>
              </a:ext>
            </a:extLst>
          </p:cNvPr>
          <p:cNvSpPr>
            <a:spLocks xmlns:a="http://schemas.openxmlformats.org/drawingml/2006/main" noGrp="1"/>
          </p:cNvSpPr>
          <p:nvPr/>
        </p:nvSpPr>
        <p:spPr>
          <a:xfrm xmlns:a="http://schemas.openxmlformats.org/drawingml/2006/main">
            <a:off x="6515100" y="2162175"/>
            <a:ext cx="4991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Extension review and transfer display need further work. Some actions remain placeholders.</a:t>
            </a:r>
          </a:p>
        </p:txBody>
      </p:sp>
      <p:sp>
        <p:nvSpPr>
          <p:cNvPr id="9" name="">
            <a:extLst xmlns:a="http://schemas.openxmlformats.org/drawingml/2006/main">
              <a:ext uri="{FF2B5EF4-FFF2-40B4-BE49-F238E27FC236}">
                <a16:creationId xmlns:a16="http://schemas.microsoft.com/office/drawing/2014/main" id="{77CE256F-8A1D-49FB-BF2A-F79A0FD3F157}"/>
              </a:ext>
            </a:extLst>
          </p:cNvPr>
          <p:cNvSpPr>
            <a:spLocks xmlns:a="http://schemas.openxmlformats.org/drawingml/2006/main" noGrp="1"/>
          </p:cNvSpPr>
          <p:nvPr/>
        </p:nvSpPr>
        <p:spPr>
          <a:xfrm xmlns:a="http://schemas.openxmlformats.org/drawingml/2006/main">
            <a:off x="6515100" y="3143250"/>
            <a:ext cx="4991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Deployment validation</a:t>
            </a:r>
          </a:p>
        </p:txBody>
      </p:sp>
      <p:sp>
        <p:nvSpPr>
          <p:cNvPr id="10" name="">
            <a:extLst xmlns:a="http://schemas.openxmlformats.org/drawingml/2006/main">
              <a:ext uri="{FF2B5EF4-FFF2-40B4-BE49-F238E27FC236}">
                <a16:creationId xmlns:a16="http://schemas.microsoft.com/office/drawing/2014/main" id="{F87FBA32-0142-409F-B6FF-04F6C24C9596}"/>
              </a:ext>
            </a:extLst>
          </p:cNvPr>
          <p:cNvSpPr>
            <a:spLocks xmlns:a="http://schemas.openxmlformats.org/drawingml/2006/main" noGrp="1"/>
          </p:cNvSpPr>
          <p:nvPr/>
        </p:nvSpPr>
        <p:spPr>
          <a:xfrm xmlns:a="http://schemas.openxmlformats.org/drawingml/2006/main">
            <a:off x="6515100" y="3543300"/>
            <a:ext cx="4991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Live email, physical camera scanning and full container deployment need verification.</a:t>
            </a:r>
          </a:p>
        </p:txBody>
      </p:sp>
    </p:spTree>
    <p:extLst>
      <p:ext uri="{BB962C8B-B14F-4D97-AF65-F5344CB8AC3E}">
        <p14:creationId xmlns:p14="http://schemas.microsoft.com/office/powerpoint/2010/main" val="1011589478"/>
      </p:ext>
    </p:extLst>
  </p:cSld>
</p:sld>
</file>

<file path=ppt/slides/slide18.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229556B-DB7D-43C7-B1D4-A3D9539277E8}"/>
              </a:ext>
            </a:extLst>
          </p:cNvPr>
          <p:cNvSpPr>
            <a:spLocks xmlns:a="http://schemas.openxmlformats.org/drawingml/2006/main" noGrp="1"/>
          </p:cNvSpPr>
          <p:nvPr/>
        </p:nvSpPr>
        <p:spPr>
          <a:xfrm xmlns:a="http://schemas.openxmlformats.org/drawingml/2006/main">
            <a:off x="685800" y="495300"/>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82B46"/>
                </a:solidFill>
                <a:latin typeface="Arial"/>
                <a:ea typeface="Arial"/>
                <a:cs typeface="Arial"/>
              </a:defRPr>
            </a:pPr>
            <a:r>
              <a:rPr sz="3450" b="1">
                <a:solidFill>
                  <a:srgbClr val="182B46"/>
                </a:solidFill>
                <a:latin typeface="Arial"/>
                <a:ea typeface="Arial"/>
                <a:cs typeface="Arial"/>
              </a:rPr>
              <a:t>Demonstration sequence</a:t>
            </a:r>
          </a:p>
        </p:txBody>
      </p:sp>
      <p:sp>
        <p:nvSpPr>
          <p:cNvPr id="2" name="">
            <a:extLst xmlns:a="http://schemas.openxmlformats.org/drawingml/2006/main">
              <a:ext uri="{FF2B5EF4-FFF2-40B4-BE49-F238E27FC236}">
                <a16:creationId xmlns:a16="http://schemas.microsoft.com/office/drawing/2014/main" id="{FDD95967-26CB-4F2B-9EAC-091D3932204C}"/>
              </a:ext>
            </a:extLst>
          </p:cNvPr>
          <p:cNvSpPr>
            <a:spLocks xmlns:a="http://schemas.openxmlformats.org/drawingml/2006/main" noGrp="1"/>
          </p:cNvSpPr>
          <p:nvPr/>
        </p:nvSpPr>
        <p:spPr>
          <a:xfrm xmlns:a="http://schemas.openxmlformats.org/drawingml/2006/main">
            <a:off x="11144250" y="63055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47B"/>
                </a:solidFill>
                <a:latin typeface="Arial"/>
                <a:ea typeface="Arial"/>
                <a:cs typeface="Arial"/>
              </a:defRPr>
            </a:pPr>
            <a:r>
              <a:rPr sz="1350" b="0">
                <a:solidFill>
                  <a:srgbClr val="52647B"/>
                </a:solidFill>
                <a:latin typeface="Arial"/>
                <a:ea typeface="Arial"/>
                <a:cs typeface="Arial"/>
              </a:rPr>
              <a:t>18</a:t>
            </a:r>
          </a:p>
        </p:txBody>
      </p:sp>
      <p:sp>
        <p:nvSpPr>
          <p:cNvPr id="3" name="">
            <a:extLst xmlns:a="http://schemas.openxmlformats.org/drawingml/2006/main">
              <a:ext uri="{FF2B5EF4-FFF2-40B4-BE49-F238E27FC236}">
                <a16:creationId xmlns:a16="http://schemas.microsoft.com/office/drawing/2014/main" id="{7941F45D-F956-4117-A03C-344E05EEFF1E}"/>
              </a:ext>
            </a:extLst>
          </p:cNvPr>
          <p:cNvSpPr>
            <a:spLocks xmlns:a="http://schemas.openxmlformats.org/drawingml/2006/main" noGrp="1"/>
          </p:cNvSpPr>
          <p:nvPr/>
        </p:nvSpPr>
        <p:spPr>
          <a:xfrm xmlns:a="http://schemas.openxmlformats.org/drawingml/2006/main">
            <a:off x="685800" y="176212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01  Browse and request</a:t>
            </a:r>
          </a:p>
        </p:txBody>
      </p:sp>
      <p:sp>
        <p:nvSpPr>
          <p:cNvPr id="4" name="">
            <a:extLst xmlns:a="http://schemas.openxmlformats.org/drawingml/2006/main">
              <a:ext uri="{FF2B5EF4-FFF2-40B4-BE49-F238E27FC236}">
                <a16:creationId xmlns:a16="http://schemas.microsoft.com/office/drawing/2014/main" id="{6629133E-7AD9-40DB-BDC1-672AEC6C5EC4}"/>
              </a:ext>
            </a:extLst>
          </p:cNvPr>
          <p:cNvSpPr>
            <a:spLocks xmlns:a="http://schemas.openxmlformats.org/drawingml/2006/main" noGrp="1"/>
          </p:cNvSpPr>
          <p:nvPr/>
        </p:nvSpPr>
        <p:spPr>
          <a:xfrm xmlns:a="http://schemas.openxmlformats.org/drawingml/2006/main">
            <a:off x="685800" y="2162175"/>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Show available equipment, then submit a borrowing request.</a:t>
            </a:r>
          </a:p>
        </p:txBody>
      </p:sp>
      <p:sp>
        <p:nvSpPr>
          <p:cNvPr id="5" name="">
            <a:extLst xmlns:a="http://schemas.openxmlformats.org/drawingml/2006/main">
              <a:ext uri="{FF2B5EF4-FFF2-40B4-BE49-F238E27FC236}">
                <a16:creationId xmlns:a16="http://schemas.microsoft.com/office/drawing/2014/main" id="{2E2478C0-680C-43FF-884A-7F29805E9AE9}"/>
              </a:ext>
            </a:extLst>
          </p:cNvPr>
          <p:cNvSpPr>
            <a:spLocks xmlns:a="http://schemas.openxmlformats.org/drawingml/2006/main" noGrp="1"/>
          </p:cNvSpPr>
          <p:nvPr/>
        </p:nvSpPr>
        <p:spPr>
          <a:xfrm xmlns:a="http://schemas.openxmlformats.org/drawingml/2006/main">
            <a:off x="685800" y="28194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02  Approve and issue</a:t>
            </a:r>
          </a:p>
        </p:txBody>
      </p:sp>
      <p:sp>
        <p:nvSpPr>
          <p:cNvPr id="6" name="">
            <a:extLst xmlns:a="http://schemas.openxmlformats.org/drawingml/2006/main">
              <a:ext uri="{FF2B5EF4-FFF2-40B4-BE49-F238E27FC236}">
                <a16:creationId xmlns:a16="http://schemas.microsoft.com/office/drawing/2014/main" id="{8091B5C1-606D-4DC1-A818-0B3470CBD2BB}"/>
              </a:ext>
            </a:extLst>
          </p:cNvPr>
          <p:cNvSpPr>
            <a:spLocks xmlns:a="http://schemas.openxmlformats.org/drawingml/2006/main" noGrp="1"/>
          </p:cNvSpPr>
          <p:nvPr/>
        </p:nvSpPr>
        <p:spPr>
          <a:xfrm xmlns:a="http://schemas.openxmlformats.org/drawingml/2006/main">
            <a:off x="685800" y="32194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Use the assistant portal and assign the specific asset.</a:t>
            </a:r>
          </a:p>
        </p:txBody>
      </p:sp>
      <p:sp>
        <p:nvSpPr>
          <p:cNvPr id="7" name="">
            <a:extLst xmlns:a="http://schemas.openxmlformats.org/drawingml/2006/main">
              <a:ext uri="{FF2B5EF4-FFF2-40B4-BE49-F238E27FC236}">
                <a16:creationId xmlns:a16="http://schemas.microsoft.com/office/drawing/2014/main" id="{57B94D47-648E-40DD-BF1A-593356602600}"/>
              </a:ext>
            </a:extLst>
          </p:cNvPr>
          <p:cNvSpPr>
            <a:spLocks xmlns:a="http://schemas.openxmlformats.org/drawingml/2006/main" noGrp="1"/>
          </p:cNvSpPr>
          <p:nvPr/>
        </p:nvSpPr>
        <p:spPr>
          <a:xfrm xmlns:a="http://schemas.openxmlformats.org/drawingml/2006/main">
            <a:off x="685800" y="38766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03  Return and inspect history</a:t>
            </a:r>
          </a:p>
        </p:txBody>
      </p:sp>
      <p:sp>
        <p:nvSpPr>
          <p:cNvPr id="8" name="">
            <a:extLst xmlns:a="http://schemas.openxmlformats.org/drawingml/2006/main">
              <a:ext uri="{FF2B5EF4-FFF2-40B4-BE49-F238E27FC236}">
                <a16:creationId xmlns:a16="http://schemas.microsoft.com/office/drawing/2014/main" id="{8359925C-33D5-4173-85D4-84EE9C2538CD}"/>
              </a:ext>
            </a:extLst>
          </p:cNvPr>
          <p:cNvSpPr>
            <a:spLocks xmlns:a="http://schemas.openxmlformats.org/drawingml/2006/main" noGrp="1"/>
          </p:cNvSpPr>
          <p:nvPr/>
        </p:nvSpPr>
        <p:spPr>
          <a:xfrm xmlns:a="http://schemas.openxmlformats.org/drawingml/2006/main">
            <a:off x="685800" y="4276725"/>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Close the loan and show the equipment status and transaction record.</a:t>
            </a:r>
          </a:p>
        </p:txBody>
      </p:sp>
      <p:sp>
        <p:nvSpPr>
          <p:cNvPr id="9" name="">
            <a:extLst xmlns:a="http://schemas.openxmlformats.org/drawingml/2006/main">
              <a:ext uri="{FF2B5EF4-FFF2-40B4-BE49-F238E27FC236}">
                <a16:creationId xmlns:a16="http://schemas.microsoft.com/office/drawing/2014/main" id="{C1E00F3B-7CF0-4212-947A-7B3680A0F1E3}"/>
              </a:ext>
            </a:extLst>
          </p:cNvPr>
          <p:cNvSpPr>
            <a:spLocks xmlns:a="http://schemas.openxmlformats.org/drawingml/2006/main" noGrp="1"/>
          </p:cNvSpPr>
          <p:nvPr/>
        </p:nvSpPr>
        <p:spPr>
          <a:xfrm xmlns:a="http://schemas.openxmlformats.org/drawingml/2006/main">
            <a:off x="685800" y="493395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559BD"/>
                </a:solidFill>
                <a:latin typeface="Arial"/>
                <a:ea typeface="Arial"/>
                <a:cs typeface="Arial"/>
              </a:defRPr>
            </a:pPr>
            <a:r>
              <a:rPr sz="2175" b="1">
                <a:solidFill>
                  <a:srgbClr val="2559BD"/>
                </a:solidFill>
                <a:latin typeface="Arial"/>
                <a:ea typeface="Arial"/>
                <a:cs typeface="Arial"/>
              </a:rPr>
              <a:t>04  Show an event request</a:t>
            </a:r>
          </a:p>
        </p:txBody>
      </p:sp>
      <p:sp>
        <p:nvSpPr>
          <p:cNvPr id="10" name="">
            <a:extLst xmlns:a="http://schemas.openxmlformats.org/drawingml/2006/main">
              <a:ext uri="{FF2B5EF4-FFF2-40B4-BE49-F238E27FC236}">
                <a16:creationId xmlns:a16="http://schemas.microsoft.com/office/drawing/2014/main" id="{4F94FFE2-22D8-4DB3-B92E-CAF03C2DCD3C}"/>
              </a:ext>
            </a:extLst>
          </p:cNvPr>
          <p:cNvSpPr>
            <a:spLocks xmlns:a="http://schemas.openxmlformats.org/drawingml/2006/main" noGrp="1"/>
          </p:cNvSpPr>
          <p:nvPr/>
        </p:nvSpPr>
        <p:spPr>
          <a:xfrm xmlns:a="http://schemas.openxmlformats.org/drawingml/2006/main">
            <a:off x="685800" y="53340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47B"/>
                </a:solidFill>
                <a:latin typeface="Arial"/>
                <a:ea typeface="Arial"/>
                <a:cs typeface="Arial"/>
              </a:defRPr>
            </a:pPr>
            <a:r>
              <a:rPr sz="1950" b="0">
                <a:solidFill>
                  <a:srgbClr val="52647B"/>
                </a:solidFill>
                <a:latin typeface="Arial"/>
                <a:ea typeface="Arial"/>
                <a:cs typeface="Arial"/>
              </a:rPr>
              <a:t>Explain faculty quantities and assistant selection of physical units.</a:t>
            </a:r>
          </a:p>
        </p:txBody>
      </p:sp>
    </p:spTree>
    <p:extLst>
      <p:ext uri="{BB962C8B-B14F-4D97-AF65-F5344CB8AC3E}">
        <p14:creationId xmlns:p14="http://schemas.microsoft.com/office/powerpoint/2010/main" val="1231355889"/>
      </p:ext>
    </p:extLst>
  </p:cSld>
</p:sld>
</file>

<file path=ppt/slides/slide19.xml><?xml version="1.0" encoding="utf-8"?>
<p:sld xmlns:p="http://schemas.openxmlformats.org/presentationml/2006/main">
  <p:cSld>
    <p:bg>
      <p:bgPr>
        <a:solidFill xmlns:a="http://schemas.openxmlformats.org/drawingml/2006/main">
          <a:srgbClr val="101D3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5F3F961-E3BC-4307-8ABD-15F016E01F6B}"/>
              </a:ext>
            </a:extLst>
          </p:cNvPr>
          <p:cNvSpPr>
            <a:spLocks xmlns:a="http://schemas.openxmlformats.org/drawingml/2006/main" noGrp="1"/>
          </p:cNvSpPr>
          <p:nvPr/>
        </p:nvSpPr>
        <p:spPr>
          <a:xfrm xmlns:a="http://schemas.openxmlformats.org/drawingml/2006/main">
            <a:off x="685800" y="495300"/>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The project’s contribution</a:t>
            </a:r>
          </a:p>
        </p:txBody>
      </p:sp>
      <p:sp>
        <p:nvSpPr>
          <p:cNvPr id="2" name="">
            <a:extLst xmlns:a="http://schemas.openxmlformats.org/drawingml/2006/main">
              <a:ext uri="{FF2B5EF4-FFF2-40B4-BE49-F238E27FC236}">
                <a16:creationId xmlns:a16="http://schemas.microsoft.com/office/drawing/2014/main" id="{8F5DF518-A3F6-47CC-9BCF-4D1ACBEDC400}"/>
              </a:ext>
            </a:extLst>
          </p:cNvPr>
          <p:cNvSpPr>
            <a:spLocks xmlns:a="http://schemas.openxmlformats.org/drawingml/2006/main" noGrp="1"/>
          </p:cNvSpPr>
          <p:nvPr/>
        </p:nvSpPr>
        <p:spPr>
          <a:xfrm xmlns:a="http://schemas.openxmlformats.org/drawingml/2006/main">
            <a:off x="11144250" y="63055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B9CBE4"/>
                </a:solidFill>
                <a:latin typeface="Arial"/>
                <a:ea typeface="Arial"/>
                <a:cs typeface="Arial"/>
              </a:defRPr>
            </a:pPr>
            <a:r>
              <a:rPr sz="1350" b="0">
                <a:solidFill>
                  <a:srgbClr val="B9CBE4"/>
                </a:solidFill>
                <a:latin typeface="Arial"/>
                <a:ea typeface="Arial"/>
                <a:cs typeface="Arial"/>
              </a:rPr>
              <a:t>19</a:t>
            </a:r>
          </a:p>
        </p:txBody>
      </p:sp>
      <p:sp>
        <p:nvSpPr>
          <p:cNvPr id="3" name="">
            <a:extLst xmlns:a="http://schemas.openxmlformats.org/drawingml/2006/main">
              <a:ext uri="{FF2B5EF4-FFF2-40B4-BE49-F238E27FC236}">
                <a16:creationId xmlns:a16="http://schemas.microsoft.com/office/drawing/2014/main" id="{133E9D31-A89F-479D-AC17-8B8F0659D4A5}"/>
              </a:ext>
            </a:extLst>
          </p:cNvPr>
          <p:cNvSpPr>
            <a:spLocks xmlns:a="http://schemas.openxmlformats.org/drawingml/2006/main" noGrp="1"/>
          </p:cNvSpPr>
          <p:nvPr/>
        </p:nvSpPr>
        <p:spPr>
          <a:xfrm xmlns:a="http://schemas.openxmlformats.org/drawingml/2006/main">
            <a:off x="685800" y="1962150"/>
            <a:ext cx="1062037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Every unit has an identity.</a:t>
            </a:r>
          </a:p>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Every loan has a responsible borrower.</a:t>
            </a:r>
          </a:p>
        </p:txBody>
      </p:sp>
      <p:sp>
        <p:nvSpPr>
          <p:cNvPr id="4" name="">
            <a:extLst xmlns:a="http://schemas.openxmlformats.org/drawingml/2006/main">
              <a:ext uri="{FF2B5EF4-FFF2-40B4-BE49-F238E27FC236}">
                <a16:creationId xmlns:a16="http://schemas.microsoft.com/office/drawing/2014/main" id="{159ACC52-B0E5-4DED-8386-2DD666CC3BB0}"/>
              </a:ext>
            </a:extLst>
          </p:cNvPr>
          <p:cNvSpPr>
            <a:spLocks xmlns:a="http://schemas.openxmlformats.org/drawingml/2006/main" noGrp="1"/>
          </p:cNvSpPr>
          <p:nvPr/>
        </p:nvSpPr>
        <p:spPr>
          <a:xfrm xmlns:a="http://schemas.openxmlformats.org/drawingml/2006/main">
            <a:off x="685800" y="4276725"/>
            <a:ext cx="10287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B9CBE4"/>
                </a:solidFill>
                <a:latin typeface="Arial"/>
                <a:ea typeface="Arial"/>
                <a:cs typeface="Arial"/>
              </a:defRPr>
            </a:pPr>
            <a:r>
              <a:rPr sz="2250" b="0">
                <a:solidFill>
                  <a:srgbClr val="B9CBE4"/>
                </a:solidFill>
                <a:latin typeface="Arial"/>
                <a:ea typeface="Arial"/>
                <a:cs typeface="Arial"/>
              </a:rPr>
              <a:t>Next step: complete remaining workflows</a:t>
            </a:r>
          </a:p>
          <a:p xmlns:a="http://schemas.openxmlformats.org/drawingml/2006/main">
            <a:pPr>
              <a:defRPr sz="2250" b="0">
                <a:solidFill>
                  <a:srgbClr val="B9CBE4"/>
                </a:solidFill>
                <a:latin typeface="Arial"/>
                <a:ea typeface="Arial"/>
                <a:cs typeface="Arial"/>
              </a:defRPr>
            </a:pPr>
            <a:r>
              <a:rPr sz="2250" b="0">
                <a:solidFill>
                  <a:srgbClr val="B9CBE4"/>
                </a:solidFill>
                <a:latin typeface="Arial"/>
                <a:ea typeface="Arial"/>
                <a:cs typeface="Arial"/>
              </a:rPr>
              <a:t>and validate a pilot in one laboratory.</a:t>
            </a:r>
          </a:p>
        </p:txBody>
      </p:sp>
      <p:sp>
        <p:nvSpPr>
          <p:cNvPr id="5" name="">
            <a:extLst xmlns:a="http://schemas.openxmlformats.org/drawingml/2006/main">
              <a:ext uri="{FF2B5EF4-FFF2-40B4-BE49-F238E27FC236}">
                <a16:creationId xmlns:a16="http://schemas.microsoft.com/office/drawing/2014/main" id="{69377A8B-20AB-4CB4-AE59-607872459A92}"/>
              </a:ext>
            </a:extLst>
          </p:cNvPr>
          <p:cNvSpPr>
            <a:spLocks xmlns:a="http://schemas.openxmlformats.org/drawingml/2006/main" noGrp="1"/>
          </p:cNvSpPr>
          <p:nvPr/>
        </p:nvSpPr>
        <p:spPr>
          <a:xfrm xmlns:a="http://schemas.openxmlformats.org/drawingml/2006/main">
            <a:off x="685800" y="5753100"/>
            <a:ext cx="990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64D9C1"/>
                </a:solidFill>
                <a:latin typeface="Arial"/>
                <a:ea typeface="Arial"/>
                <a:cs typeface="Arial"/>
              </a:defRPr>
            </a:pPr>
            <a:r>
              <a:rPr sz="2025" b="0">
                <a:solidFill>
                  <a:srgbClr val="64D9C1"/>
                </a:solidFill>
                <a:latin typeface="Arial"/>
                <a:ea typeface="Arial"/>
                <a:cs typeface="Arial"/>
              </a:rPr>
              <a:t>Questions &amp; discussion</a:t>
            </a:r>
          </a:p>
        </p:txBody>
      </p:sp>
    </p:spTree>
    <p:extLst>
      <p:ext uri="{BB962C8B-B14F-4D97-AF65-F5344CB8AC3E}">
        <p14:creationId xmlns:p14="http://schemas.microsoft.com/office/powerpoint/2010/main" val="29972832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2026-10-08T16:48:21.0900000Z</dcterms:created>
  <dcterms:modified xsi:type="dcterms:W3CDTF">2026-10-08T16:48:21.0900000Z</dcterms:modified>
</coreProperties>
</file>